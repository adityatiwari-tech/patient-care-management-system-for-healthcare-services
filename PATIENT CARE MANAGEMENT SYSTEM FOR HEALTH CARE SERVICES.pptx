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sldIdLst>
    <p:sldId id="257" r:id="rId5"/>
    <p:sldId id="275" r:id="rId6"/>
    <p:sldId id="313" r:id="rId7"/>
    <p:sldId id="258" r:id="rId8"/>
    <p:sldId id="277" r:id="rId9"/>
    <p:sldId id="279" r:id="rId10"/>
    <p:sldId id="280" r:id="rId11"/>
    <p:sldId id="281" r:id="rId12"/>
    <p:sldId id="283" r:id="rId13"/>
    <p:sldId id="286" r:id="rId14"/>
    <p:sldId id="288" r:id="rId15"/>
    <p:sldId id="287" r:id="rId16"/>
    <p:sldId id="289" r:id="rId17"/>
    <p:sldId id="292" r:id="rId18"/>
    <p:sldId id="294" r:id="rId19"/>
    <p:sldId id="295" r:id="rId20"/>
    <p:sldId id="296" r:id="rId21"/>
    <p:sldId id="298" r:id="rId22"/>
    <p:sldId id="299" r:id="rId23"/>
    <p:sldId id="301" r:id="rId24"/>
    <p:sldId id="302" r:id="rId25"/>
    <p:sldId id="306" r:id="rId26"/>
    <p:sldId id="308" r:id="rId27"/>
    <p:sldId id="304" r:id="rId28"/>
    <p:sldId id="309" r:id="rId29"/>
    <p:sldId id="310" r:id="rId30"/>
    <p:sldId id="311" r:id="rId31"/>
    <p:sldId id="31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14" autoAdjust="0"/>
  </p:normalViewPr>
  <p:slideViewPr>
    <p:cSldViewPr snapToGrid="0">
      <p:cViewPr varScale="1">
        <p:scale>
          <a:sx n="82" d="100"/>
          <a:sy n="82" d="100"/>
        </p:scale>
        <p:origin x="715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5716D-39C9-48C4-A3EB-B88E4515427D}" type="datetimeFigureOut">
              <a:rPr lang="en-US" smtClean="0"/>
              <a:t>8/26/2026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C6D3C-9EB0-4F2C-9026-3887D1CDB4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763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8D39141-3E8E-4545-90DB-291A0E5F13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tx1">
              <a:lumMod val="75000"/>
              <a:lumOff val="25000"/>
            </a:schemeClr>
          </a:solidFill>
        </p:spPr>
        <p:txBody>
          <a:bodyPr lIns="612000" tIns="0" anchor="ctr"/>
          <a:lstStyle>
            <a:lvl1pPr marL="0" indent="0" algn="l">
              <a:lnSpc>
                <a:spcPct val="100000"/>
              </a:lnSpc>
              <a:buNone/>
              <a:defRPr sz="12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0A062-54B3-47F2-9D6A-5BC957520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000" y="0"/>
            <a:ext cx="9672000" cy="6857999"/>
          </a:xfrm>
          <a:solidFill>
            <a:schemeClr val="tx2">
              <a:alpha val="70000"/>
            </a:schemeClr>
          </a:solidFill>
        </p:spPr>
        <p:txBody>
          <a:bodyPr lIns="1116000" rIns="180000" anchor="ctr"/>
          <a:lstStyle>
            <a:lvl1pPr algn="l">
              <a:defRPr sz="5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97F3D-57FA-4E82-9EEC-E93088055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0000" y="4276447"/>
            <a:ext cx="5161550" cy="620016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144000" anchor="ctr"/>
          <a:lstStyle>
            <a:lvl1pPr marL="0" indent="0" algn="l">
              <a:buNone/>
              <a:defRPr sz="2400" b="1" i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31775C8-C7F0-4EC5-A9C0-53AE3A0C5F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600000" y="6262080"/>
            <a:ext cx="7560000" cy="36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E8B0AE2-DA19-49E2-AC81-5272385D30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75689F-8B6B-4484-8064-90B4D8FB7C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7343" y="2731933"/>
            <a:ext cx="6903253" cy="3350673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576000" tIns="1872000" rIns="576000"/>
          <a:lstStyle>
            <a:lvl1pPr marL="0" indent="0">
              <a:lnSpc>
                <a:spcPts val="2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Describe Your Big Idea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C57B9832-0120-4094-8C27-082E3533C5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012000" cy="6858000"/>
          </a:xfrm>
          <a:custGeom>
            <a:avLst/>
            <a:gdLst>
              <a:gd name="connsiteX0" fmla="*/ 0 w 12012000"/>
              <a:gd name="connsiteY0" fmla="*/ 0 h 6858000"/>
              <a:gd name="connsiteX1" fmla="*/ 8592000 w 12012000"/>
              <a:gd name="connsiteY1" fmla="*/ 0 h 6858000"/>
              <a:gd name="connsiteX2" fmla="*/ 8592000 w 12012000"/>
              <a:gd name="connsiteY2" fmla="*/ 180000 h 6858000"/>
              <a:gd name="connsiteX3" fmla="*/ 12012000 w 12012000"/>
              <a:gd name="connsiteY3" fmla="*/ 180000 h 6858000"/>
              <a:gd name="connsiteX4" fmla="*/ 12012000 w 12012000"/>
              <a:gd name="connsiteY4" fmla="*/ 6678000 h 6858000"/>
              <a:gd name="connsiteX5" fmla="*/ 8592000 w 12012000"/>
              <a:gd name="connsiteY5" fmla="*/ 6678000 h 6858000"/>
              <a:gd name="connsiteX6" fmla="*/ 8592000 w 12012000"/>
              <a:gd name="connsiteY6" fmla="*/ 6858000 h 6858000"/>
              <a:gd name="connsiteX7" fmla="*/ 0 w 1201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012000" h="6858000">
                <a:moveTo>
                  <a:pt x="0" y="0"/>
                </a:moveTo>
                <a:lnTo>
                  <a:pt x="8592000" y="0"/>
                </a:lnTo>
                <a:lnTo>
                  <a:pt x="8592000" y="180000"/>
                </a:lnTo>
                <a:lnTo>
                  <a:pt x="12012000" y="180000"/>
                </a:lnTo>
                <a:lnTo>
                  <a:pt x="12012000" y="6678000"/>
                </a:lnTo>
                <a:lnTo>
                  <a:pt x="8592000" y="6678000"/>
                </a:lnTo>
                <a:lnTo>
                  <a:pt x="8592000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0" tIns="0" rIns="61200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3999" y="6262080"/>
            <a:ext cx="6190934" cy="36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AF90A48-1BFB-4A19-9A1C-2851879F9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9778" y="3096087"/>
            <a:ext cx="5455750" cy="1008000"/>
          </a:xfrm>
        </p:spPr>
        <p:txBody>
          <a:bodyPr/>
          <a:lstStyle>
            <a:lvl1pPr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9E79024-4B2E-43B0-8607-196181AB731F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593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X Number &amp; 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67CE6DD-011B-4E2D-9E8A-EFF414E39E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764000" r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5"/>
            <a:ext cx="7560000" cy="36000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E75A4B-2655-4B0E-8D3B-0068F57D3D9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F266E5-40A6-4643-B9AC-B38F272563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2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CB790CB-E4F5-4B61-A03E-1CA0C32E3F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0455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570684C-B743-402E-8778-A65199577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710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CEC7149-9A00-4CA4-B800-1BFD6EBEB8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7255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374F0E2-36BA-43B5-8799-77AA3367DF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69707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BA12174-6A24-4E61-8D58-B3B42C31BE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96056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3A67B21-0E8B-4922-94F9-20492309C4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46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801C20C-82D2-465E-8D45-DF1A57E045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0855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62BAD45E-2039-4F8D-9CFC-42BFA3756A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31412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64A78879-6338-4F3B-864E-8FF4E08C006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57654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80118439-B306-4F20-9200-1C429EADC7E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01000" y="5271502"/>
            <a:ext cx="1990001" cy="620016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0" anchor="ctr"/>
          <a:lstStyle>
            <a:lvl1pPr marL="0" indent="0" algn="ctr">
              <a:buNone/>
              <a:defRPr sz="2400" b="1" i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Outcome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9B7E7F2-DF6B-4441-B0B1-7E87E29BA3A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98550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ED41522A-FBAF-4E5D-B592-F13855964E8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385350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AA51069C-E1DC-44A0-A6A0-2A4AB0DD4D70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684044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42F6437E-5478-451F-9BE3-E8160EA4351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958950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25127DFD-53A7-41A8-B591-AEEC1203802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245749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892583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 40 Vertical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F76D43D-0DDD-4BAD-8213-BDBF75C3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6118" y="4338116"/>
            <a:ext cx="10839764" cy="45719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6D3ACF3-E1F5-4332-9836-C8E6C46591B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43438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DF8FE7-66F4-4586-B49B-61E115ED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5B890-F885-418C-9812-59970CAC6B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521507-88DE-417D-8076-D9152E1E14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C7DDD-6F93-45F8-AFD6-95AA051FE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1CD6042-5DF4-4624-BC32-25F68745304A}"/>
              </a:ext>
            </a:extLst>
          </p:cNvPr>
          <p:cNvSpPr/>
          <p:nvPr userDrawn="1"/>
        </p:nvSpPr>
        <p:spPr>
          <a:xfrm rot="5400000">
            <a:off x="8220300" y="371700"/>
            <a:ext cx="4343400" cy="3600000"/>
          </a:xfrm>
          <a:custGeom>
            <a:avLst/>
            <a:gdLst>
              <a:gd name="connsiteX0" fmla="*/ 0 w 4343400"/>
              <a:gd name="connsiteY0" fmla="*/ 3600000 h 3600000"/>
              <a:gd name="connsiteX1" fmla="*/ 0 w 4343400"/>
              <a:gd name="connsiteY1" fmla="*/ 0 h 3600000"/>
              <a:gd name="connsiteX2" fmla="*/ 180000 w 4343400"/>
              <a:gd name="connsiteY2" fmla="*/ 0 h 3600000"/>
              <a:gd name="connsiteX3" fmla="*/ 4343400 w 4343400"/>
              <a:gd name="connsiteY3" fmla="*/ 0 h 3600000"/>
              <a:gd name="connsiteX4" fmla="*/ 4343400 w 4343400"/>
              <a:gd name="connsiteY4" fmla="*/ 180000 h 3600000"/>
              <a:gd name="connsiteX5" fmla="*/ 180000 w 4343400"/>
              <a:gd name="connsiteY5" fmla="*/ 180000 h 3600000"/>
              <a:gd name="connsiteX6" fmla="*/ 180000 w 4343400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3400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4343400" y="0"/>
                </a:lnTo>
                <a:lnTo>
                  <a:pt x="43434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294759C-286C-4281-B194-581C766EEF28}"/>
              </a:ext>
            </a:extLst>
          </p:cNvPr>
          <p:cNvSpPr/>
          <p:nvPr userDrawn="1"/>
        </p:nvSpPr>
        <p:spPr>
          <a:xfrm rot="5400000">
            <a:off x="9134700" y="3800700"/>
            <a:ext cx="2514600" cy="3600000"/>
          </a:xfrm>
          <a:custGeom>
            <a:avLst/>
            <a:gdLst>
              <a:gd name="connsiteX0" fmla="*/ 0 w 2514600"/>
              <a:gd name="connsiteY0" fmla="*/ 180000 h 3600000"/>
              <a:gd name="connsiteX1" fmla="*/ 0 w 2514600"/>
              <a:gd name="connsiteY1" fmla="*/ 0 h 3600000"/>
              <a:gd name="connsiteX2" fmla="*/ 2334600 w 2514600"/>
              <a:gd name="connsiteY2" fmla="*/ 0 h 3600000"/>
              <a:gd name="connsiteX3" fmla="*/ 2514600 w 2514600"/>
              <a:gd name="connsiteY3" fmla="*/ 0 h 3600000"/>
              <a:gd name="connsiteX4" fmla="*/ 2514600 w 2514600"/>
              <a:gd name="connsiteY4" fmla="*/ 180000 h 3600000"/>
              <a:gd name="connsiteX5" fmla="*/ 2514600 w 2514600"/>
              <a:gd name="connsiteY5" fmla="*/ 3600000 h 3600000"/>
              <a:gd name="connsiteX6" fmla="*/ 2334600 w 2514600"/>
              <a:gd name="connsiteY6" fmla="*/ 3600000 h 3600000"/>
              <a:gd name="connsiteX7" fmla="*/ 2334600 w 2514600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14600" h="3600000">
                <a:moveTo>
                  <a:pt x="0" y="180000"/>
                </a:moveTo>
                <a:lnTo>
                  <a:pt x="0" y="0"/>
                </a:lnTo>
                <a:lnTo>
                  <a:pt x="2334600" y="0"/>
                </a:lnTo>
                <a:lnTo>
                  <a:pt x="2514600" y="0"/>
                </a:lnTo>
                <a:lnTo>
                  <a:pt x="2514600" y="180000"/>
                </a:lnTo>
                <a:lnTo>
                  <a:pt x="2514600" y="3600000"/>
                </a:lnTo>
                <a:lnTo>
                  <a:pt x="2334600" y="3600000"/>
                </a:lnTo>
                <a:lnTo>
                  <a:pt x="2334600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7894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x Content Block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E6622698-E93D-4214-8C21-38DBE58C2E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224000" r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706BC54-FE11-4237-96CC-8DA267DB5D7C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0581" y="2186444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70581" y="1775806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1291" y="2186444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31291" y="1775806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92000" y="2186444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92000" y="1775806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3E6D854C-C76F-49BA-9E74-F438CA8EA9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70581" y="4335857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D447D7D-C1F4-4AD4-AE22-EB8E7F1C41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70581" y="3925219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49DF703-38D0-4214-9432-83570E10EF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1291" y="4335857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F9EB6572-1A9F-4672-8E42-A4E15451CA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31291" y="3925219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0740EB70-455C-47FF-9A9A-0D78D202ED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92000" y="4335857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CD9A5773-4F50-4631-9B7A-0A2D83E5DC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92000" y="3925219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3875987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x Content Block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5350A6A-6F84-47F4-AE00-8295D96D08C8}"/>
              </a:ext>
            </a:extLst>
          </p:cNvPr>
          <p:cNvSpPr/>
          <p:nvPr userDrawn="1"/>
        </p:nvSpPr>
        <p:spPr>
          <a:xfrm rot="5400000">
            <a:off x="8677500" y="3343500"/>
            <a:ext cx="3429000" cy="3600000"/>
          </a:xfrm>
          <a:custGeom>
            <a:avLst/>
            <a:gdLst>
              <a:gd name="connsiteX0" fmla="*/ 0 w 3429000"/>
              <a:gd name="connsiteY0" fmla="*/ 180000 h 3600000"/>
              <a:gd name="connsiteX1" fmla="*/ 0 w 3429000"/>
              <a:gd name="connsiteY1" fmla="*/ 0 h 3600000"/>
              <a:gd name="connsiteX2" fmla="*/ 3249000 w 3429000"/>
              <a:gd name="connsiteY2" fmla="*/ 0 h 3600000"/>
              <a:gd name="connsiteX3" fmla="*/ 3429000 w 3429000"/>
              <a:gd name="connsiteY3" fmla="*/ 0 h 3600000"/>
              <a:gd name="connsiteX4" fmla="*/ 3429000 w 3429000"/>
              <a:gd name="connsiteY4" fmla="*/ 180000 h 3600000"/>
              <a:gd name="connsiteX5" fmla="*/ 3429000 w 3429000"/>
              <a:gd name="connsiteY5" fmla="*/ 3600000 h 3600000"/>
              <a:gd name="connsiteX6" fmla="*/ 3249000 w 3429000"/>
              <a:gd name="connsiteY6" fmla="*/ 3600000 h 3600000"/>
              <a:gd name="connsiteX7" fmla="*/ 3249000 w 3429000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000" h="3600000">
                <a:moveTo>
                  <a:pt x="0" y="180000"/>
                </a:moveTo>
                <a:lnTo>
                  <a:pt x="0" y="0"/>
                </a:lnTo>
                <a:lnTo>
                  <a:pt x="3249000" y="0"/>
                </a:lnTo>
                <a:lnTo>
                  <a:pt x="3429000" y="0"/>
                </a:lnTo>
                <a:lnTo>
                  <a:pt x="3429000" y="180000"/>
                </a:lnTo>
                <a:lnTo>
                  <a:pt x="3429000" y="3600000"/>
                </a:lnTo>
                <a:lnTo>
                  <a:pt x="3249000" y="3600000"/>
                </a:lnTo>
                <a:lnTo>
                  <a:pt x="3249000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34294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2863" y="3668499"/>
            <a:ext cx="3276000" cy="2238815"/>
          </a:xfrm>
        </p:spPr>
        <p:txBody>
          <a:bodyPr lIns="10800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863" y="3068555"/>
            <a:ext cx="3276000" cy="360445"/>
          </a:xfrm>
          <a:solidFill>
            <a:schemeClr val="tx2"/>
          </a:solidFill>
        </p:spPr>
        <p:txBody>
          <a:bodyPr lIns="10800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5432" y="3668499"/>
            <a:ext cx="3276000" cy="2238815"/>
          </a:xfrm>
        </p:spPr>
        <p:txBody>
          <a:bodyPr lIns="10800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5432" y="3068555"/>
            <a:ext cx="3276000" cy="360445"/>
          </a:xfrm>
          <a:solidFill>
            <a:schemeClr val="tx2"/>
          </a:solidFill>
        </p:spPr>
        <p:txBody>
          <a:bodyPr lIns="10800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8000" y="3668499"/>
            <a:ext cx="3276000" cy="2238815"/>
          </a:xfrm>
        </p:spPr>
        <p:txBody>
          <a:bodyPr lIns="10800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08000" y="3068555"/>
            <a:ext cx="3276000" cy="360445"/>
          </a:xfrm>
          <a:solidFill>
            <a:schemeClr val="tx2"/>
          </a:solidFill>
        </p:spPr>
        <p:txBody>
          <a:bodyPr lIns="10800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8989EC4C-4E3F-457F-8CF6-8A88DE68A93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908907" y="2005142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67FB2730-3D12-4D72-AE64-AC3955C5CD9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671476" y="2005142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1" name="Picture Placeholder 25">
            <a:extLst>
              <a:ext uri="{FF2B5EF4-FFF2-40B4-BE49-F238E27FC236}">
                <a16:creationId xmlns:a16="http://schemas.microsoft.com/office/drawing/2014/main" id="{4F2BB90C-4866-4DB3-B05C-0BB7DBFF8EA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434044" y="2005142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EA98CFA-B2A7-4BCC-B1DC-01CFAD2DD65E}"/>
              </a:ext>
            </a:extLst>
          </p:cNvPr>
          <p:cNvSpPr/>
          <p:nvPr userDrawn="1"/>
        </p:nvSpPr>
        <p:spPr>
          <a:xfrm rot="5400000">
            <a:off x="8677500" y="-85500"/>
            <a:ext cx="3429000" cy="3600000"/>
          </a:xfrm>
          <a:custGeom>
            <a:avLst/>
            <a:gdLst>
              <a:gd name="connsiteX0" fmla="*/ 0 w 3429000"/>
              <a:gd name="connsiteY0" fmla="*/ 3600000 h 3600000"/>
              <a:gd name="connsiteX1" fmla="*/ 0 w 3429000"/>
              <a:gd name="connsiteY1" fmla="*/ 0 h 3600000"/>
              <a:gd name="connsiteX2" fmla="*/ 180000 w 3429000"/>
              <a:gd name="connsiteY2" fmla="*/ 0 h 3600000"/>
              <a:gd name="connsiteX3" fmla="*/ 3429000 w 3429000"/>
              <a:gd name="connsiteY3" fmla="*/ 0 h 3600000"/>
              <a:gd name="connsiteX4" fmla="*/ 3429000 w 3429000"/>
              <a:gd name="connsiteY4" fmla="*/ 180000 h 3600000"/>
              <a:gd name="connsiteX5" fmla="*/ 180000 w 3429000"/>
              <a:gd name="connsiteY5" fmla="*/ 180000 h 3600000"/>
              <a:gd name="connsiteX6" fmla="*/ 180000 w 3429000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29000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3429000" y="0"/>
                </a:lnTo>
                <a:lnTo>
                  <a:pt x="3429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598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752CBEE-7696-40FC-AB0E-8790B179D18C}"/>
              </a:ext>
            </a:extLst>
          </p:cNvPr>
          <p:cNvSpPr/>
          <p:nvPr userDrawn="1"/>
        </p:nvSpPr>
        <p:spPr>
          <a:xfrm rot="5400000">
            <a:off x="8188485" y="2854485"/>
            <a:ext cx="4407031" cy="3600000"/>
          </a:xfrm>
          <a:custGeom>
            <a:avLst/>
            <a:gdLst>
              <a:gd name="connsiteX0" fmla="*/ 0 w 4407031"/>
              <a:gd name="connsiteY0" fmla="*/ 180000 h 3600000"/>
              <a:gd name="connsiteX1" fmla="*/ 0 w 4407031"/>
              <a:gd name="connsiteY1" fmla="*/ 0 h 3600000"/>
              <a:gd name="connsiteX2" fmla="*/ 4227031 w 4407031"/>
              <a:gd name="connsiteY2" fmla="*/ 0 h 3600000"/>
              <a:gd name="connsiteX3" fmla="*/ 4407031 w 4407031"/>
              <a:gd name="connsiteY3" fmla="*/ 0 h 3600000"/>
              <a:gd name="connsiteX4" fmla="*/ 4407031 w 4407031"/>
              <a:gd name="connsiteY4" fmla="*/ 180000 h 3600000"/>
              <a:gd name="connsiteX5" fmla="*/ 4407031 w 4407031"/>
              <a:gd name="connsiteY5" fmla="*/ 3600000 h 3600000"/>
              <a:gd name="connsiteX6" fmla="*/ 4227031 w 4407031"/>
              <a:gd name="connsiteY6" fmla="*/ 3600000 h 3600000"/>
              <a:gd name="connsiteX7" fmla="*/ 4227031 w 4407031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7031" h="3600000">
                <a:moveTo>
                  <a:pt x="0" y="180000"/>
                </a:moveTo>
                <a:lnTo>
                  <a:pt x="0" y="0"/>
                </a:lnTo>
                <a:lnTo>
                  <a:pt x="4227031" y="0"/>
                </a:lnTo>
                <a:lnTo>
                  <a:pt x="4407031" y="0"/>
                </a:lnTo>
                <a:lnTo>
                  <a:pt x="4407031" y="180000"/>
                </a:lnTo>
                <a:lnTo>
                  <a:pt x="4407031" y="3600000"/>
                </a:lnTo>
                <a:lnTo>
                  <a:pt x="4227031" y="3600000"/>
                </a:lnTo>
                <a:lnTo>
                  <a:pt x="4227031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2451405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9445125-53D2-43B3-8ABC-C88E463BE7DD}"/>
              </a:ext>
            </a:extLst>
          </p:cNvPr>
          <p:cNvSpPr/>
          <p:nvPr userDrawn="1"/>
        </p:nvSpPr>
        <p:spPr>
          <a:xfrm rot="5400000">
            <a:off x="9166516" y="-574515"/>
            <a:ext cx="2450969" cy="3600000"/>
          </a:xfrm>
          <a:custGeom>
            <a:avLst/>
            <a:gdLst>
              <a:gd name="connsiteX0" fmla="*/ 0 w 2450969"/>
              <a:gd name="connsiteY0" fmla="*/ 3600000 h 3600000"/>
              <a:gd name="connsiteX1" fmla="*/ 0 w 2450969"/>
              <a:gd name="connsiteY1" fmla="*/ 0 h 3600000"/>
              <a:gd name="connsiteX2" fmla="*/ 180000 w 2450969"/>
              <a:gd name="connsiteY2" fmla="*/ 0 h 3600000"/>
              <a:gd name="connsiteX3" fmla="*/ 2450969 w 2450969"/>
              <a:gd name="connsiteY3" fmla="*/ 0 h 3600000"/>
              <a:gd name="connsiteX4" fmla="*/ 2450969 w 2450969"/>
              <a:gd name="connsiteY4" fmla="*/ 180000 h 3600000"/>
              <a:gd name="connsiteX5" fmla="*/ 180000 w 2450969"/>
              <a:gd name="connsiteY5" fmla="*/ 180000 h 3600000"/>
              <a:gd name="connsiteX6" fmla="*/ 180000 w 2450969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50969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2450969" y="0"/>
                </a:lnTo>
                <a:lnTo>
                  <a:pt x="2450969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59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- Full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67CE6DD-011B-4E2D-9E8A-EFF414E39E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764000" r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5"/>
            <a:ext cx="7560000" cy="36000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E75A4B-2655-4B0E-8D3B-0068F57D3D9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0A18EF7D-14D0-4362-B8BD-722D3D54D4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039369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67FF01B-795B-4F5D-87AF-6CAA8DD5D48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F32FC1-1FF6-4874-9835-EB1A90F7E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039E70-36A3-46C1-B30E-CA4CC0B36C5D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738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68584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8907576-77BD-4FD0-A9FE-48D249CB435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03794" y="3407563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03794" y="3005055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66363" y="3407563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6363" y="3005055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28931" y="3407563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28931" y="3005055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8989EC4C-4E3F-457F-8CF6-8A88DE68A93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867711" y="1648853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67FB2730-3D12-4D72-AE64-AC3955C5CD9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630280" y="1648853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1" name="Picture Placeholder 25">
            <a:extLst>
              <a:ext uri="{FF2B5EF4-FFF2-40B4-BE49-F238E27FC236}">
                <a16:creationId xmlns:a16="http://schemas.microsoft.com/office/drawing/2014/main" id="{4F2BB90C-4866-4DB3-B05C-0BB7DBFF8EA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392848" y="1648853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FE407FE5-15DF-40F7-B14C-0A04CC30CD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03794" y="5736658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7DD73F77-2E6A-450D-B4AF-8643D8AE1EC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03794" y="5334150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7F1CAED2-2A78-4780-A303-060C24C565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66363" y="5736658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4E77CA0B-49F8-4EE9-84A7-AB28FD1CC1E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6363" y="5334150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5D4F2294-CE3A-4705-BCB3-C5DAFA373C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8931" y="5736658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7B49F9AF-7698-444D-8D12-FA0B6A713E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28931" y="5334150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33" name="Picture Placeholder 25">
            <a:extLst>
              <a:ext uri="{FF2B5EF4-FFF2-40B4-BE49-F238E27FC236}">
                <a16:creationId xmlns:a16="http://schemas.microsoft.com/office/drawing/2014/main" id="{6057C2E9-1501-4819-B77D-23A0268DB0F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867711" y="3977948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4" name="Picture Placeholder 25">
            <a:extLst>
              <a:ext uri="{FF2B5EF4-FFF2-40B4-BE49-F238E27FC236}">
                <a16:creationId xmlns:a16="http://schemas.microsoft.com/office/drawing/2014/main" id="{C77B8544-1CEE-4ED4-89E8-ED042673804D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630280" y="3977948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Picture Placeholder 25">
            <a:extLst>
              <a:ext uri="{FF2B5EF4-FFF2-40B4-BE49-F238E27FC236}">
                <a16:creationId xmlns:a16="http://schemas.microsoft.com/office/drawing/2014/main" id="{E1131D92-0382-469E-A358-A2EC5FDCCF3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392848" y="3977948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0EBF36-B9CA-4962-B198-27B56B54E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92197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4D42A7-FF15-4C9E-9657-33DD5BC539D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FA555C0-B108-4047-8AFF-82E05F0734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EAA7C-AE70-48A8-B582-013424EB9C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95500" y="1992933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98EA298-DD21-4B69-8125-094245EDF7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4213" y="19929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 dirty="0"/>
              <a:t>Place</a:t>
            </a:r>
            <a:br>
              <a:rPr lang="en-US" dirty="0"/>
            </a:br>
            <a:r>
              <a:rPr lang="en-US" dirty="0"/>
              <a:t>Your Image / Logo Here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4C93EFCC-1E62-4200-9E96-2476EE2581B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4213" y="34311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 dirty="0"/>
              <a:t>Place</a:t>
            </a:r>
            <a:br>
              <a:rPr lang="en-US" dirty="0"/>
            </a:br>
            <a:r>
              <a:rPr lang="en-US" dirty="0"/>
              <a:t>Your Image / Logo Here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8741D874-BD81-4469-AA1C-32517FD7C37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4213" y="48693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 dirty="0"/>
              <a:t>Place</a:t>
            </a:r>
            <a:br>
              <a:rPr lang="en-US" dirty="0"/>
            </a:br>
            <a:r>
              <a:rPr lang="en-US" dirty="0"/>
              <a:t>Your Image / Logo Here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FB0B599-DDEF-43E9-A07F-FC328C595BCE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2095500" y="3422739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3FF0857-6431-48DC-BE82-9A93C55CEFB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2095500" y="4867850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Description Here</a:t>
            </a:r>
          </a:p>
        </p:txBody>
      </p:sp>
    </p:spTree>
    <p:extLst>
      <p:ext uri="{BB962C8B-B14F-4D97-AF65-F5344CB8AC3E}">
        <p14:creationId xmlns:p14="http://schemas.microsoft.com/office/powerpoint/2010/main" val="2119471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4D42A7-FF15-4C9E-9657-33DD5BC539D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FA555C0-B108-4047-8AFF-82E05F0734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EAA7C-AE70-48A8-B582-013424EB9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740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8D39141-3E8E-4545-90DB-291A0E5F13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tx1">
              <a:lumMod val="75000"/>
              <a:lumOff val="25000"/>
            </a:schemeClr>
          </a:solidFill>
        </p:spPr>
        <p:txBody>
          <a:bodyPr lIns="0" tIns="0" rIns="612000" anchor="ctr"/>
          <a:lstStyle>
            <a:lvl1pPr marL="0" indent="0" algn="r">
              <a:lnSpc>
                <a:spcPct val="100000"/>
              </a:lnSpc>
              <a:buNone/>
              <a:defRPr sz="12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0A062-54B3-47F2-9D6A-5BC9575208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9672000" cy="6857999"/>
          </a:xfrm>
          <a:solidFill>
            <a:schemeClr val="tx2">
              <a:alpha val="70000"/>
            </a:schemeClr>
          </a:solidFill>
        </p:spPr>
        <p:txBody>
          <a:bodyPr lIns="1116000" rIns="180000" bIns="756000" anchor="ctr"/>
          <a:lstStyle>
            <a:lvl1pPr algn="l">
              <a:lnSpc>
                <a:spcPct val="65000"/>
              </a:lnSpc>
              <a:defRPr sz="88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49FD1A9-E34B-4888-90DE-493861AD75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17700" y="4508500"/>
            <a:ext cx="3314700" cy="330200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452AC72-D893-4C1A-83BD-9930164D89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17700" y="5180023"/>
            <a:ext cx="3314700" cy="205029"/>
          </a:xfrm>
          <a:ln>
            <a:noFill/>
          </a:ln>
        </p:spPr>
        <p:txBody>
          <a:bodyPr anchor="t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2EEC149-F1BE-4C36-A789-5BF73B40A2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17700" y="5683561"/>
            <a:ext cx="3314700" cy="205029"/>
          </a:xfrm>
          <a:ln>
            <a:noFill/>
          </a:ln>
        </p:spPr>
        <p:txBody>
          <a:bodyPr anchor="t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ECC256E6-6AE8-4950-838C-BE638FB479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17700" y="4821910"/>
            <a:ext cx="3314700" cy="205029"/>
          </a:xfrm>
        </p:spPr>
        <p:txBody>
          <a:bodyPr anchor="t"/>
          <a:lstStyle>
            <a:lvl1pPr marL="0" indent="0">
              <a:buNone/>
              <a:defRPr sz="1000" i="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3185791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5246D-ECE9-473C-953D-D56C3F7B3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946F0-677D-45B4-83B9-FD3BD3FFC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1825625"/>
            <a:ext cx="108000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5BE21-FA72-48F5-9A53-134902BF6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000" y="6192000"/>
            <a:ext cx="7560000" cy="360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79B29-5421-49A7-A511-D916B66A8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5764" y="6241764"/>
            <a:ext cx="270474" cy="270474"/>
          </a:xfrm>
          <a:prstGeom prst="ellipse">
            <a:avLst/>
          </a:prstGeom>
          <a:solidFill>
            <a:schemeClr val="accent1"/>
          </a:solidFill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7892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50" r:id="rId12"/>
    <p:sldLayoutId id="214748366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spc="-150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2"/>
        </a:buClr>
        <a:buFont typeface="Arial" panose="020B0604020202020204" pitchFamily="34" charset="0"/>
        <a:buChar char="●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476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2"/>
        </a:buClr>
        <a:buFontTx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1">
            <a:lumMod val="50000"/>
            <a:lumOff val="50000"/>
          </a:schemeClr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96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1">
            <a:lumMod val="75000"/>
            <a:lumOff val="25000"/>
          </a:schemeClr>
        </a:buClr>
        <a:buSzPct val="80000"/>
        <a:buFont typeface="Courier New" panose="02070309020205020404" pitchFamily="49" charset="0"/>
        <a:buChar char="o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9060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svg"/><Relationship Id="rId7" Type="http://schemas.openxmlformats.org/officeDocument/2006/relationships/image" Target="../media/image11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svg"/><Relationship Id="rId7" Type="http://schemas.openxmlformats.org/officeDocument/2006/relationships/image" Target="../media/image16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svg"/><Relationship Id="rId7" Type="http://schemas.openxmlformats.org/officeDocument/2006/relationships/image" Target="../media/image17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svg"/><Relationship Id="rId7" Type="http://schemas.openxmlformats.org/officeDocument/2006/relationships/image" Target="../media/image21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5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svg"/><Relationship Id="rId7" Type="http://schemas.openxmlformats.org/officeDocument/2006/relationships/image" Target="../media/image22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Doctor pointing on a large display">
            <a:extLst>
              <a:ext uri="{FF2B5EF4-FFF2-40B4-BE49-F238E27FC236}">
                <a16:creationId xmlns:a16="http://schemas.microsoft.com/office/drawing/2014/main" id="{8F02F647-7DBC-4618-AFF3-8CED69C5CDE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8D8E648-93B0-47FF-A306-492EFF7FC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9359" y="0"/>
            <a:ext cx="9672000" cy="6857999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CARE MANAGEMENT</a:t>
            </a: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FOR HEALTHCARE SERVICES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4857D70-F12B-4E1B-99F8-92DAD4349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99998" y="4276447"/>
            <a:ext cx="3725361" cy="620016"/>
          </a:xfrm>
          <a:gradFill>
            <a:gsLst>
              <a:gs pos="800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 care AI Assistant</a:t>
            </a:r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C85C272F-FCB2-478D-9E03-EC734D1AB6C0}"/>
              </a:ext>
            </a:extLst>
          </p:cNvPr>
          <p:cNvSpPr/>
          <p:nvPr/>
        </p:nvSpPr>
        <p:spPr bwMode="white">
          <a:xfrm>
            <a:off x="3687084" y="3441536"/>
            <a:ext cx="4104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136CB0-4ED9-43FA-81D5-6D3225795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024" y="4896463"/>
            <a:ext cx="2885950" cy="45719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93287B-16F8-11EF-8F4E-01179F538319}"/>
              </a:ext>
            </a:extLst>
          </p:cNvPr>
          <p:cNvSpPr txBox="1"/>
          <p:nvPr/>
        </p:nvSpPr>
        <p:spPr>
          <a:xfrm>
            <a:off x="3599998" y="5562198"/>
            <a:ext cx="3321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Aditya Tiwari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AEE895-21F7-387B-DB47-E093AA260F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537" y="1"/>
            <a:ext cx="3224463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593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40000"/>
            <a:lumOff val="60000"/>
            <a:alpha val="6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3503F-1B5C-3C88-1F18-2AC886A4D5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75DA12-AA65-763F-5AC6-B560ADFC6F6F}"/>
              </a:ext>
            </a:extLst>
          </p:cNvPr>
          <p:cNvSpPr txBox="1"/>
          <p:nvPr/>
        </p:nvSpPr>
        <p:spPr>
          <a:xfrm>
            <a:off x="390105" y="300038"/>
            <a:ext cx="6553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9817D5-F669-C2E3-0D59-837569CB934E}"/>
              </a:ext>
            </a:extLst>
          </p:cNvPr>
          <p:cNvSpPr txBox="1"/>
          <p:nvPr/>
        </p:nvSpPr>
        <p:spPr>
          <a:xfrm>
            <a:off x="476996" y="1305341"/>
            <a:ext cx="10505134" cy="42473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booking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Patients had no way to see real appointment openings and had to call in blind → solved with a live specialty → doctor → date → open-slot booking flow.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unified records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Vitals, prescriptions and reports lived across disconnected paper trails → solved with a single patient dashboard tracking vitals, history, and prescriptions together.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Uncontrolled doctor onboarding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No safeguard against anyone registering as a doctor → solved by restricting doctor account creation exclusively to the Admin.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Manual, error-prone prescribing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Handwritten prescriptions with no stock awareness → solved with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backed prescribing that deducts live stock automatically.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self-service pharmacy access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Patients had to visit in person to check medicine availability or usage info → solved with an online pharmacy (browse, purchase, and ask the chatbot about any medicine).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intelligent guidance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Patients had no simple way to get answers about their own care → solved with a role-aware AI chatbot scoped to each user's own data.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document/photo interpretation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Patients couldn't get quick clarity on a medicine or report without a doctor visit → solved with OCR + AI-powered document and photo analysis directly in the chatbot.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3BAA00-8AF9-91CE-BA75-DF54C9306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537" y="0"/>
            <a:ext cx="3224463" cy="86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45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91EB5F-B35E-9B9B-94AA-207E3CE507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FB220EF-F0AB-D9DA-C845-A577E215A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460077"/>
              </p:ext>
            </p:extLst>
          </p:nvPr>
        </p:nvGraphicFramePr>
        <p:xfrm>
          <a:off x="534923" y="1110504"/>
          <a:ext cx="10799762" cy="527304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5399881">
                  <a:extLst>
                    <a:ext uri="{9D8B030D-6E8A-4147-A177-3AD203B41FA5}">
                      <a16:colId xmlns:a16="http://schemas.microsoft.com/office/drawing/2014/main" val="1919230599"/>
                    </a:ext>
                  </a:extLst>
                </a:gridCol>
                <a:gridCol w="5399881">
                  <a:extLst>
                    <a:ext uri="{9D8B030D-6E8A-4147-A177-3AD203B41FA5}">
                      <a16:colId xmlns:a16="http://schemas.microsoft.com/office/drawing/2014/main" val="2186614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95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/ Application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Streamlit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Custom CSS design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6966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&amp; Language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4107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&amp; ORM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MySQL, SQLAlchemy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4301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bcrypt (password hashing)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1959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Configuration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python-dotenv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921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Visualization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Plotly / Streamlit native charts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61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Agent Framework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LangChain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396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 &amp; Vision AI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Groq (LLM hosting), Vision-capable LLM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016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OCR / Document Processing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PaddleOCR, Tesseract, pypdf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2672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Speech-to-Text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Groq Whisper 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0758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Text-to-Speech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Speech API (browser-native)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7785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PDF Generation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xhtml2pdf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5919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 Delivery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smtplib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Gmail SMTP, HTML email templates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927414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C712A1C-FB50-40FF-7C5D-C30A2A10B45E}"/>
              </a:ext>
            </a:extLst>
          </p:cNvPr>
          <p:cNvSpPr txBox="1"/>
          <p:nvPr/>
        </p:nvSpPr>
        <p:spPr>
          <a:xfrm>
            <a:off x="429208" y="214604"/>
            <a:ext cx="109054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FDC169E-3376-EEDF-AD77-286055ADD2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537" y="1"/>
            <a:ext cx="3224463" cy="111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117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BE4A06-2673-41EF-AF84-96B0EDEC0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8" y="8090"/>
            <a:ext cx="12063663" cy="1008000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1-</a:t>
            </a:r>
            <a:b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&amp; role-based</a:t>
            </a:r>
            <a:b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access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3FC51DE-D10A-4DE8-A7E3-22FA2E4FC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1" y="1656710"/>
            <a:ext cx="12192000" cy="120248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947A81F6-261F-44F4-B660-7BD323AE29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BB7B43-3233-04B1-6A67-792DD084658E}"/>
              </a:ext>
            </a:extLst>
          </p:cNvPr>
          <p:cNvSpPr txBox="1"/>
          <p:nvPr/>
        </p:nvSpPr>
        <p:spPr>
          <a:xfrm>
            <a:off x="8422105" y="86948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5B0CBB-8676-508E-D293-1AC6C67A8035}"/>
              </a:ext>
            </a:extLst>
          </p:cNvPr>
          <p:cNvSpPr txBox="1"/>
          <p:nvPr/>
        </p:nvSpPr>
        <p:spPr>
          <a:xfrm>
            <a:off x="0" y="1776958"/>
            <a:ext cx="1141534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Overview: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the entry point of the system: role-based Login and Signup.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Self-registration available only for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(and optionally Doctors registering themselves, depending on your final config) via a signup form.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accounts are created exclusively by the Admin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no doctor self-registration — to keep clinical staff credentials controlled.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Passwords are never stored in plain text — hashed using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saving.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validates credentials, checks account active/inactive status, and routes the user into the correct role-based dashboard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0617AE0-D4F1-E01B-C6A3-B0DBAEC438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537" y="1"/>
            <a:ext cx="3224463" cy="117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203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5E06B-3D64-5C12-4E0C-86FC3620E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176E63-CCE7-E56A-96E3-FF83B932A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999" y="522990"/>
            <a:ext cx="10553021" cy="64519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Flowchart:  Login &amp; Admin-created </a:t>
            </a:r>
            <a:b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F96ACBCA-B95A-4358-48F5-735CE0C674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* According to a Survey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6B56B-61B6-16F4-6E27-100ED0E383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69308B4-0F50-688A-0C24-4A9CD013CCB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370855" y="3695377"/>
            <a:ext cx="1999889" cy="846137"/>
          </a:xfrm>
        </p:spPr>
        <p:txBody>
          <a:bodyPr/>
          <a:lstStyle/>
          <a:p>
            <a:r>
              <a:rPr lang="en-US" dirty="0"/>
              <a:t>Average Annual Revenue per Doctor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B886296-921C-C599-894C-C652E5C08A9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57654" y="3695377"/>
            <a:ext cx="1999889" cy="846137"/>
          </a:xfrm>
        </p:spPr>
        <p:txBody>
          <a:bodyPr/>
          <a:lstStyle/>
          <a:p>
            <a:r>
              <a:rPr lang="en-US" dirty="0"/>
              <a:t>Market Growth Per Year</a:t>
            </a:r>
          </a:p>
        </p:txBody>
      </p:sp>
      <p:pic>
        <p:nvPicPr>
          <p:cNvPr id="46" name="Picture Placeholder 45" descr="Team">
            <a:extLst>
              <a:ext uri="{FF2B5EF4-FFF2-40B4-BE49-F238E27FC236}">
                <a16:creationId xmlns:a16="http://schemas.microsoft.com/office/drawing/2014/main" id="{E0DF46E6-D13A-D82C-CD53-D0B12BACDDC7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318326" y="2437246"/>
            <a:ext cx="384361" cy="384361"/>
          </a:xfrm>
        </p:spPr>
      </p:pic>
      <p:pic>
        <p:nvPicPr>
          <p:cNvPr id="49" name="Picture Placeholder 48" descr="Medicine">
            <a:extLst>
              <a:ext uri="{FF2B5EF4-FFF2-40B4-BE49-F238E27FC236}">
                <a16:creationId xmlns:a16="http://schemas.microsoft.com/office/drawing/2014/main" id="{0E478490-AEF2-C0F9-A094-9F30843DFAB8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3605126" y="2437246"/>
            <a:ext cx="384361" cy="384361"/>
          </a:xfrm>
        </p:spPr>
      </p:pic>
      <p:pic>
        <p:nvPicPr>
          <p:cNvPr id="53" name="Picture Placeholder 52" descr="Wallet">
            <a:extLst>
              <a:ext uri="{FF2B5EF4-FFF2-40B4-BE49-F238E27FC236}">
                <a16:creationId xmlns:a16="http://schemas.microsoft.com/office/drawing/2014/main" id="{13C26701-05F9-86EA-E26F-7841C3235861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903820" y="2437246"/>
            <a:ext cx="384361" cy="384361"/>
          </a:xfrm>
        </p:spPr>
      </p:pic>
      <p:pic>
        <p:nvPicPr>
          <p:cNvPr id="60" name="Picture Placeholder 59" descr="Upward trend">
            <a:extLst>
              <a:ext uri="{FF2B5EF4-FFF2-40B4-BE49-F238E27FC236}">
                <a16:creationId xmlns:a16="http://schemas.microsoft.com/office/drawing/2014/main" id="{93F3DD75-6B93-FD10-E861-7A201EC1EF36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465525" y="2437246"/>
            <a:ext cx="384361" cy="384361"/>
          </a:xfrm>
        </p:spPr>
      </p:pic>
      <p:sp>
        <p:nvSpPr>
          <p:cNvPr id="19" name="object 7" descr="Beige rectangle">
            <a:extLst>
              <a:ext uri="{FF2B5EF4-FFF2-40B4-BE49-F238E27FC236}">
                <a16:creationId xmlns:a16="http://schemas.microsoft.com/office/drawing/2014/main" id="{CDCE4953-901D-A2F6-4866-50CC67592734}"/>
              </a:ext>
            </a:extLst>
          </p:cNvPr>
          <p:cNvSpPr/>
          <p:nvPr/>
        </p:nvSpPr>
        <p:spPr bwMode="white">
          <a:xfrm>
            <a:off x="652933" y="1435082"/>
            <a:ext cx="4104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84B65B0-59E3-6760-0EEB-75D593A2E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3380336" y="2224959"/>
            <a:ext cx="896287" cy="745643"/>
            <a:chOff x="1824638" y="1733550"/>
            <a:chExt cx="1192959" cy="992451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F18292B-68BB-2781-B23A-E95F3B6A731B}"/>
                </a:ext>
              </a:extLst>
            </p:cNvPr>
            <p:cNvSpPr/>
            <p:nvPr/>
          </p:nvSpPr>
          <p:spPr>
            <a:xfrm>
              <a:off x="1824638" y="1733550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C26079D-4B8D-AEEB-FD25-7FE276048AB8}"/>
                </a:ext>
              </a:extLst>
            </p:cNvPr>
            <p:cNvSpPr/>
            <p:nvPr/>
          </p:nvSpPr>
          <p:spPr>
            <a:xfrm>
              <a:off x="1925901" y="1819672"/>
              <a:ext cx="1091696" cy="820207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AD23231-74B3-DD76-E20C-8DBFF0D0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7914029" y="2224959"/>
            <a:ext cx="896287" cy="745643"/>
            <a:chOff x="1824638" y="1733550"/>
            <a:chExt cx="1192959" cy="99245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7FBEF90-FA65-7B5F-B429-41A6EE36DCB7}"/>
                </a:ext>
              </a:extLst>
            </p:cNvPr>
            <p:cNvSpPr/>
            <p:nvPr/>
          </p:nvSpPr>
          <p:spPr>
            <a:xfrm>
              <a:off x="1824638" y="1733550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3C2B8F7-0F33-6F34-6A56-A08F41830A16}"/>
                </a:ext>
              </a:extLst>
            </p:cNvPr>
            <p:cNvSpPr/>
            <p:nvPr/>
          </p:nvSpPr>
          <p:spPr>
            <a:xfrm>
              <a:off x="1925901" y="1819672"/>
              <a:ext cx="1091696" cy="820207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50A366F-943E-90E8-C99E-0CEF860AD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5723178" y="2223240"/>
            <a:ext cx="745643" cy="745643"/>
            <a:chOff x="5482999" y="1607028"/>
            <a:chExt cx="1200866" cy="120086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100C69A-0EC0-D101-C733-D5AA960463DA}"/>
                </a:ext>
              </a:extLst>
            </p:cNvPr>
            <p:cNvSpPr/>
            <p:nvPr/>
          </p:nvSpPr>
          <p:spPr>
            <a:xfrm>
              <a:off x="5587207" y="1711236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D48F3D9-3334-BCFE-1F4F-9859316C692F}"/>
                </a:ext>
              </a:extLst>
            </p:cNvPr>
            <p:cNvSpPr/>
            <p:nvPr/>
          </p:nvSpPr>
          <p:spPr>
            <a:xfrm>
              <a:off x="5482999" y="1607028"/>
              <a:ext cx="1200866" cy="1200866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24BE03A-7333-2DF7-A73F-F108B3FF24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0310145" y="2224959"/>
            <a:ext cx="926876" cy="745643"/>
            <a:chOff x="7901577" y="2268089"/>
            <a:chExt cx="926876" cy="745643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76C2C24-069E-EC56-A75A-2FBD227C250B}"/>
                </a:ext>
              </a:extLst>
            </p:cNvPr>
            <p:cNvSpPr/>
            <p:nvPr/>
          </p:nvSpPr>
          <p:spPr>
            <a:xfrm flipH="1">
              <a:off x="8516862" y="2268089"/>
              <a:ext cx="311591" cy="745643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C30E16E-8907-5631-9DE3-5655A8C26C65}"/>
                </a:ext>
              </a:extLst>
            </p:cNvPr>
            <p:cNvSpPr/>
            <p:nvPr/>
          </p:nvSpPr>
          <p:spPr>
            <a:xfrm flipH="1">
              <a:off x="7901577" y="2332794"/>
              <a:ext cx="781787" cy="616234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C08EA71-9071-1106-FA76-27C099BF3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949886" y="2224959"/>
            <a:ext cx="926876" cy="745643"/>
            <a:chOff x="7901577" y="2268089"/>
            <a:chExt cx="926876" cy="74564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DD1C132-FDB5-9090-4406-0DE27AB0D873}"/>
                </a:ext>
              </a:extLst>
            </p:cNvPr>
            <p:cNvSpPr/>
            <p:nvPr/>
          </p:nvSpPr>
          <p:spPr>
            <a:xfrm flipH="1">
              <a:off x="8516862" y="2268089"/>
              <a:ext cx="311591" cy="745643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76FA358-86A0-D5B8-F1E1-3BB4AB857D6E}"/>
                </a:ext>
              </a:extLst>
            </p:cNvPr>
            <p:cNvSpPr/>
            <p:nvPr/>
          </p:nvSpPr>
          <p:spPr>
            <a:xfrm flipH="1">
              <a:off x="7901577" y="2332794"/>
              <a:ext cx="781787" cy="616234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832D2CDB-D7C0-1646-04F9-D00F9019A8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57" y="1652337"/>
            <a:ext cx="11657543" cy="51017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5A4273-EEA0-C5C4-1DA0-429FCFC87F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537" y="1"/>
            <a:ext cx="3224463" cy="92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871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26613-C0ED-5EF8-C42E-83EDF8BF94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47AB18-219E-C491-302A-6B3288B8F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17" y="1573756"/>
            <a:ext cx="11181347" cy="45677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F48788-D6AE-8EFF-AED0-74391A0EDB2E}"/>
              </a:ext>
            </a:extLst>
          </p:cNvPr>
          <p:cNvSpPr txBox="1"/>
          <p:nvPr/>
        </p:nvSpPr>
        <p:spPr>
          <a:xfrm>
            <a:off x="529389" y="417095"/>
            <a:ext cx="9127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Screen</a:t>
            </a:r>
            <a:endParaRPr lang="en-IN" sz="40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034962-9216-CB66-CD36-1F7C87C039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537" y="1"/>
            <a:ext cx="3224463" cy="96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1A4A4-1AC3-6E66-CB48-E132F7688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3E5BEC-81BE-9AA9-C632-F316F645A6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88945C-7BF6-A7CB-D9DE-74A36C21B26F}"/>
              </a:ext>
            </a:extLst>
          </p:cNvPr>
          <p:cNvSpPr txBox="1"/>
          <p:nvPr/>
        </p:nvSpPr>
        <p:spPr>
          <a:xfrm>
            <a:off x="529389" y="417095"/>
            <a:ext cx="112681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“Create Doctor” Form</a:t>
            </a:r>
            <a:endParaRPr lang="en-IN" sz="40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079371-C80A-0339-F609-B778879DA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89" y="1124981"/>
            <a:ext cx="11046375" cy="53159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B010E4-8DB4-2598-49AF-3C71643285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537" y="1"/>
            <a:ext cx="3224463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97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  <a:alpha val="3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8B815A-E1D2-B6ED-4413-2ADBB39AB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E2BC3D-5723-FA09-47C0-8ABF9A124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5190"/>
            <a:ext cx="12063663" cy="1008000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2- Role-based UI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35DCD7B-3790-0E52-69B9-8BCA6A0BE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869616"/>
            <a:ext cx="12192000" cy="120248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690F9FD8-A67B-F19B-BD62-F5AEDB5064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42871B-7E09-7B6B-241D-F45EF4F0F27B}"/>
              </a:ext>
            </a:extLst>
          </p:cNvPr>
          <p:cNvSpPr txBox="1"/>
          <p:nvPr/>
        </p:nvSpPr>
        <p:spPr>
          <a:xfrm>
            <a:off x="8422105" y="86948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F38858-706B-AEA4-294F-33CDC391B8BA}"/>
              </a:ext>
            </a:extLst>
          </p:cNvPr>
          <p:cNvSpPr txBox="1"/>
          <p:nvPr/>
        </p:nvSpPr>
        <p:spPr>
          <a:xfrm>
            <a:off x="-1" y="1343821"/>
            <a:ext cx="1141534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Overview:</a:t>
            </a:r>
          </a:p>
          <a:p>
            <a:endParaRPr lang="en-US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three distinct, dedicated dashboards on top of the authentication foundation from Milestone 1.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role sees only its own navigation and data — enforced both visually (sidebar) and at the data-access level.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Admin's console is the control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manages both patient and doctor accounts, specialties, and oversees system-wide activity.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dashboard: vitals overview, health record history, doctor directory.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dashboard: profile, schedule, appointment list.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C31DDB-1D00-ABBC-67C7-3B218AB764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537" y="0"/>
            <a:ext cx="3224463" cy="100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856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C0629-4022-C94A-9695-4F5F0ED8D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4F924D-AC3A-E7DD-1C4B-FF8D03E4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22990"/>
            <a:ext cx="9951916" cy="64519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Flowchart:  Role-Based Routing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3D75A4F4-51E1-3CDC-52F2-22858E7BB7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* According to a Survey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B2691-9098-B66A-76C4-BEBFE3B93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ECE4D6-3715-463F-4129-24B3EBD58DE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370855" y="3695377"/>
            <a:ext cx="1999889" cy="846137"/>
          </a:xfrm>
        </p:spPr>
        <p:txBody>
          <a:bodyPr/>
          <a:lstStyle/>
          <a:p>
            <a:r>
              <a:rPr lang="en-US" dirty="0"/>
              <a:t>Average Annual Revenue per Doctor</a:t>
            </a:r>
          </a:p>
        </p:txBody>
      </p:sp>
      <p:pic>
        <p:nvPicPr>
          <p:cNvPr id="46" name="Picture Placeholder 45" descr="Team">
            <a:extLst>
              <a:ext uri="{FF2B5EF4-FFF2-40B4-BE49-F238E27FC236}">
                <a16:creationId xmlns:a16="http://schemas.microsoft.com/office/drawing/2014/main" id="{D66E9EAD-6145-B37F-3FF2-AA8AC1E4BB1B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318326" y="2437246"/>
            <a:ext cx="384361" cy="384361"/>
          </a:xfrm>
        </p:spPr>
      </p:pic>
      <p:pic>
        <p:nvPicPr>
          <p:cNvPr id="49" name="Picture Placeholder 48" descr="Medicine">
            <a:extLst>
              <a:ext uri="{FF2B5EF4-FFF2-40B4-BE49-F238E27FC236}">
                <a16:creationId xmlns:a16="http://schemas.microsoft.com/office/drawing/2014/main" id="{56558366-79C0-507A-4017-58186159E2C7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3605126" y="2437246"/>
            <a:ext cx="384361" cy="384361"/>
          </a:xfrm>
        </p:spPr>
      </p:pic>
      <p:pic>
        <p:nvPicPr>
          <p:cNvPr id="53" name="Picture Placeholder 52" descr="Wallet">
            <a:extLst>
              <a:ext uri="{FF2B5EF4-FFF2-40B4-BE49-F238E27FC236}">
                <a16:creationId xmlns:a16="http://schemas.microsoft.com/office/drawing/2014/main" id="{9BB0AB0D-C43E-DFF9-A3F7-D3219DAD2B18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903820" y="2437246"/>
            <a:ext cx="384361" cy="384361"/>
          </a:xfrm>
        </p:spPr>
      </p:pic>
      <p:pic>
        <p:nvPicPr>
          <p:cNvPr id="56" name="Picture Placeholder 55" descr="Stethoscope">
            <a:extLst>
              <a:ext uri="{FF2B5EF4-FFF2-40B4-BE49-F238E27FC236}">
                <a16:creationId xmlns:a16="http://schemas.microsoft.com/office/drawing/2014/main" id="{5913C6BD-228B-626D-C5CB-2EB0338D6880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8178726" y="2437246"/>
            <a:ext cx="384361" cy="384361"/>
          </a:xfrm>
        </p:spPr>
      </p:pic>
      <p:pic>
        <p:nvPicPr>
          <p:cNvPr id="60" name="Picture Placeholder 59" descr="Upward trend">
            <a:extLst>
              <a:ext uri="{FF2B5EF4-FFF2-40B4-BE49-F238E27FC236}">
                <a16:creationId xmlns:a16="http://schemas.microsoft.com/office/drawing/2014/main" id="{1B250718-1E1B-4825-B8BE-A46F4D49DF34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0465525" y="2437246"/>
            <a:ext cx="384361" cy="384361"/>
          </a:xfrm>
        </p:spPr>
      </p:pic>
      <p:sp>
        <p:nvSpPr>
          <p:cNvPr id="19" name="object 7" descr="Beige rectangle">
            <a:extLst>
              <a:ext uri="{FF2B5EF4-FFF2-40B4-BE49-F238E27FC236}">
                <a16:creationId xmlns:a16="http://schemas.microsoft.com/office/drawing/2014/main" id="{900E872B-0A3E-278F-9C9B-03BCD1D58528}"/>
              </a:ext>
            </a:extLst>
          </p:cNvPr>
          <p:cNvSpPr/>
          <p:nvPr/>
        </p:nvSpPr>
        <p:spPr bwMode="white">
          <a:xfrm>
            <a:off x="722099" y="1322787"/>
            <a:ext cx="4104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6BC0618-758B-BAB6-0F55-FAAF9C353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7914029" y="2224959"/>
            <a:ext cx="896287" cy="745643"/>
            <a:chOff x="1824638" y="1733550"/>
            <a:chExt cx="1192959" cy="99245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AD8E2FE-6FC6-0213-C434-50324064E1CF}"/>
                </a:ext>
              </a:extLst>
            </p:cNvPr>
            <p:cNvSpPr/>
            <p:nvPr/>
          </p:nvSpPr>
          <p:spPr>
            <a:xfrm>
              <a:off x="1824638" y="1733550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3461B3F-CA06-F22E-C117-115B3F1DD6F4}"/>
                </a:ext>
              </a:extLst>
            </p:cNvPr>
            <p:cNvSpPr/>
            <p:nvPr/>
          </p:nvSpPr>
          <p:spPr>
            <a:xfrm>
              <a:off x="1925901" y="1819672"/>
              <a:ext cx="1091696" cy="820207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00FB060-D345-F4D9-A406-D81021F7F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5723178" y="2223240"/>
            <a:ext cx="745643" cy="745643"/>
            <a:chOff x="5482999" y="1607028"/>
            <a:chExt cx="1200866" cy="120086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B13A099-21EA-47C9-8EB2-FDD33C0038BB}"/>
                </a:ext>
              </a:extLst>
            </p:cNvPr>
            <p:cNvSpPr/>
            <p:nvPr/>
          </p:nvSpPr>
          <p:spPr>
            <a:xfrm>
              <a:off x="5587207" y="1711236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6B11F6B-FFBC-3A9C-CC0B-430323E43BF1}"/>
                </a:ext>
              </a:extLst>
            </p:cNvPr>
            <p:cNvSpPr/>
            <p:nvPr/>
          </p:nvSpPr>
          <p:spPr>
            <a:xfrm>
              <a:off x="5482999" y="1607028"/>
              <a:ext cx="1200866" cy="1200866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FE3366F-E3D5-6645-2916-CF397A16B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0310145" y="2224959"/>
            <a:ext cx="926876" cy="745643"/>
            <a:chOff x="7901577" y="2268089"/>
            <a:chExt cx="926876" cy="745643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6EE8861-0184-FE3A-9925-045CD2DB33F0}"/>
                </a:ext>
              </a:extLst>
            </p:cNvPr>
            <p:cNvSpPr/>
            <p:nvPr/>
          </p:nvSpPr>
          <p:spPr>
            <a:xfrm flipH="1">
              <a:off x="8516862" y="2268089"/>
              <a:ext cx="311591" cy="745643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5D1BC50-9DAA-8317-6CE1-08CE5CEC8EB3}"/>
                </a:ext>
              </a:extLst>
            </p:cNvPr>
            <p:cNvSpPr/>
            <p:nvPr/>
          </p:nvSpPr>
          <p:spPr>
            <a:xfrm flipH="1">
              <a:off x="7901577" y="2332794"/>
              <a:ext cx="781787" cy="616234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D0964CB-7C53-8A32-339D-D70416C7F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949886" y="2224959"/>
            <a:ext cx="926876" cy="745643"/>
            <a:chOff x="7901577" y="2268089"/>
            <a:chExt cx="926876" cy="74564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D51BB78-CF2F-E481-6725-07231571CA4C}"/>
                </a:ext>
              </a:extLst>
            </p:cNvPr>
            <p:cNvSpPr/>
            <p:nvPr/>
          </p:nvSpPr>
          <p:spPr>
            <a:xfrm flipH="1">
              <a:off x="8516862" y="2268089"/>
              <a:ext cx="311591" cy="745643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F6CB4E1-7EF2-FBD5-1845-4D8BA331FFDD}"/>
                </a:ext>
              </a:extLst>
            </p:cNvPr>
            <p:cNvSpPr/>
            <p:nvPr/>
          </p:nvSpPr>
          <p:spPr>
            <a:xfrm flipH="1">
              <a:off x="7901577" y="2332794"/>
              <a:ext cx="781787" cy="616234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EE264F0-B660-6E74-CCE8-74E3F5B361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099" y="1466952"/>
            <a:ext cx="10250701" cy="47684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D2D230-3D47-7ABB-E6D7-23169226E6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537" y="0"/>
            <a:ext cx="3224463" cy="116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853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3078F-37C0-4F38-4E17-5E8D1D8F7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20F068-437C-FF5C-80BA-4F3B4EE246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4DC399-C3F6-2B61-AA51-92BD2AE6FE9D}"/>
              </a:ext>
            </a:extLst>
          </p:cNvPr>
          <p:cNvSpPr txBox="1"/>
          <p:nvPr/>
        </p:nvSpPr>
        <p:spPr>
          <a:xfrm>
            <a:off x="529389" y="417095"/>
            <a:ext cx="9127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 Dashboard</a:t>
            </a:r>
            <a:endParaRPr lang="en-IN" sz="40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D6716E-D244-E582-2239-96E5F78A3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89" y="1266349"/>
            <a:ext cx="5413354" cy="49754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916AD9-1F68-9E7B-C7F4-597082DA6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66349"/>
            <a:ext cx="5413354" cy="497541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6D407C3-FF7B-401A-A85C-2A638AE913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537" y="1"/>
            <a:ext cx="3224463" cy="94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840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964B9-5856-711A-FFBF-78DCA7DB1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F05FCD-438B-F138-5218-D20787BBE5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8A06B3-2C09-5069-E90E-93921C83B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06" y="1106905"/>
            <a:ext cx="11117178" cy="54053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AB7B08-FAF7-509D-1FAD-0609497D19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537" y="1"/>
            <a:ext cx="3224463" cy="97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63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CFEEE-5965-E5E2-729F-60D85B158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59EEFF-6ABE-B7BB-825B-933A3138AE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071F9F-48F9-CA09-D370-5F59022C74CE}"/>
              </a:ext>
            </a:extLst>
          </p:cNvPr>
          <p:cNvSpPr txBox="1"/>
          <p:nvPr/>
        </p:nvSpPr>
        <p:spPr>
          <a:xfrm>
            <a:off x="529389" y="417095"/>
            <a:ext cx="9127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Console</a:t>
            </a:r>
            <a:endParaRPr lang="en-IN" sz="40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3EB17C-B96F-802D-5A47-E29F271AF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89" y="1273758"/>
            <a:ext cx="11046375" cy="53516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D9AA0C-521B-C07F-8A63-2FD98EE3FD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537" y="0"/>
            <a:ext cx="3224463" cy="112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082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  <a:alpha val="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E88AB6-355B-0279-33F2-7AEE93781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7A2E3F-36F3-363C-7A02-C01485403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5190"/>
            <a:ext cx="12063663" cy="1008000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3- Pharmacy, Chatbot</a:t>
            </a:r>
            <a:b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Doctor Reports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11D66FB-2FA1-6114-83AF-4E65D9C14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1343821"/>
            <a:ext cx="12192000" cy="120248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F84D5829-43AF-325B-D25A-80F3DA92AC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E508AB-9A29-6B6A-5E2B-CE7C62DD8FD2}"/>
              </a:ext>
            </a:extLst>
          </p:cNvPr>
          <p:cNvSpPr txBox="1"/>
          <p:nvPr/>
        </p:nvSpPr>
        <p:spPr>
          <a:xfrm>
            <a:off x="8422105" y="86948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4E00BD-A692-405A-08AA-53253277DB12}"/>
              </a:ext>
            </a:extLst>
          </p:cNvPr>
          <p:cNvSpPr txBox="1"/>
          <p:nvPr/>
        </p:nvSpPr>
        <p:spPr>
          <a:xfrm>
            <a:off x="-1" y="1343821"/>
            <a:ext cx="1141534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Overview: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Pharmacy module: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 performs full CRUD on medicines (add, price, restock, remove); patients browse the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view medicine details, and purchase.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AI assistant embedded in every role's portal, managing role-specific tasks conversationally — appointments/vitals for patients, schedule/prescribing for doctors, inventory/analytics for admin.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health reports: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doctors build a report (medicines + vitals + diagnosis + advice) with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preview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updates as they type; patients can view and download the finished report as a PDF.</a:t>
            </a:r>
          </a:p>
          <a:p>
            <a:pPr lvl="0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24F3FB-9FD3-EB10-799E-381E777608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0253" y="1"/>
            <a:ext cx="2951747" cy="111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721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18EC5-616F-5A99-D489-F3F6D1F32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F6AF536-023C-313D-A94F-B07968A23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22990"/>
            <a:ext cx="9951916" cy="64519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Flowchart:  Doctor report creation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B0135909-9148-F38F-2E90-0AC41D3E02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* According to a Survey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6C9A4-19F7-B6E7-342C-76D62FA61D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1F64DA3-40FD-4BB6-1FBC-EC193A79129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370855" y="3695377"/>
            <a:ext cx="1999889" cy="846137"/>
          </a:xfrm>
        </p:spPr>
        <p:txBody>
          <a:bodyPr/>
          <a:lstStyle/>
          <a:p>
            <a:r>
              <a:rPr lang="en-US" dirty="0"/>
              <a:t>Average Annual Revenue per Doctor</a:t>
            </a:r>
          </a:p>
        </p:txBody>
      </p:sp>
      <p:pic>
        <p:nvPicPr>
          <p:cNvPr id="46" name="Picture Placeholder 45" descr="Team">
            <a:extLst>
              <a:ext uri="{FF2B5EF4-FFF2-40B4-BE49-F238E27FC236}">
                <a16:creationId xmlns:a16="http://schemas.microsoft.com/office/drawing/2014/main" id="{2E403710-DD24-1B45-898F-797464CE9065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318326" y="2437246"/>
            <a:ext cx="384361" cy="384361"/>
          </a:xfrm>
        </p:spPr>
      </p:pic>
      <p:pic>
        <p:nvPicPr>
          <p:cNvPr id="49" name="Picture Placeholder 48" descr="Medicine">
            <a:extLst>
              <a:ext uri="{FF2B5EF4-FFF2-40B4-BE49-F238E27FC236}">
                <a16:creationId xmlns:a16="http://schemas.microsoft.com/office/drawing/2014/main" id="{67714854-3E88-32A2-92A6-DCC640540CF6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3605126" y="2437246"/>
            <a:ext cx="384361" cy="384361"/>
          </a:xfrm>
        </p:spPr>
      </p:pic>
      <p:pic>
        <p:nvPicPr>
          <p:cNvPr id="53" name="Picture Placeholder 52" descr="Wallet">
            <a:extLst>
              <a:ext uri="{FF2B5EF4-FFF2-40B4-BE49-F238E27FC236}">
                <a16:creationId xmlns:a16="http://schemas.microsoft.com/office/drawing/2014/main" id="{3BAEB2B8-BDED-68FC-1226-76FDDBAB2207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903820" y="2437246"/>
            <a:ext cx="384361" cy="384361"/>
          </a:xfrm>
        </p:spPr>
      </p:pic>
      <p:pic>
        <p:nvPicPr>
          <p:cNvPr id="56" name="Picture Placeholder 55" descr="Stethoscope">
            <a:extLst>
              <a:ext uri="{FF2B5EF4-FFF2-40B4-BE49-F238E27FC236}">
                <a16:creationId xmlns:a16="http://schemas.microsoft.com/office/drawing/2014/main" id="{E9A744BD-613B-5892-4C60-DD8FAA3ABD83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8178726" y="2437246"/>
            <a:ext cx="384361" cy="384361"/>
          </a:xfrm>
        </p:spPr>
      </p:pic>
      <p:pic>
        <p:nvPicPr>
          <p:cNvPr id="60" name="Picture Placeholder 59" descr="Upward trend">
            <a:extLst>
              <a:ext uri="{FF2B5EF4-FFF2-40B4-BE49-F238E27FC236}">
                <a16:creationId xmlns:a16="http://schemas.microsoft.com/office/drawing/2014/main" id="{345F292C-FAF2-7331-7D00-00715F740961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0465525" y="2437246"/>
            <a:ext cx="384361" cy="384361"/>
          </a:xfrm>
        </p:spPr>
      </p:pic>
      <p:sp>
        <p:nvSpPr>
          <p:cNvPr id="19" name="object 7" descr="Beige rectangle">
            <a:extLst>
              <a:ext uri="{FF2B5EF4-FFF2-40B4-BE49-F238E27FC236}">
                <a16:creationId xmlns:a16="http://schemas.microsoft.com/office/drawing/2014/main" id="{257A119D-AFD3-A231-DF88-3260A4C9DB85}"/>
              </a:ext>
            </a:extLst>
          </p:cNvPr>
          <p:cNvSpPr/>
          <p:nvPr/>
        </p:nvSpPr>
        <p:spPr bwMode="white">
          <a:xfrm>
            <a:off x="684000" y="1168185"/>
            <a:ext cx="4104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833FB94-D991-9B88-9838-10D2695E0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7914029" y="2224959"/>
            <a:ext cx="896287" cy="745643"/>
            <a:chOff x="1824638" y="1733550"/>
            <a:chExt cx="1192959" cy="99245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C8396E1-D69D-FC70-7A8A-432B4767265E}"/>
                </a:ext>
              </a:extLst>
            </p:cNvPr>
            <p:cNvSpPr/>
            <p:nvPr/>
          </p:nvSpPr>
          <p:spPr>
            <a:xfrm>
              <a:off x="1824638" y="1733550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0733AB8-73B4-1610-C6EA-7A5B54CA997F}"/>
                </a:ext>
              </a:extLst>
            </p:cNvPr>
            <p:cNvSpPr/>
            <p:nvPr/>
          </p:nvSpPr>
          <p:spPr>
            <a:xfrm>
              <a:off x="1925901" y="1819672"/>
              <a:ext cx="1091696" cy="820207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6EA027F1-61D8-8D72-CCC6-365BB9987A56}"/>
              </a:ext>
            </a:extLst>
          </p:cNvPr>
          <p:cNvSpPr/>
          <p:nvPr/>
        </p:nvSpPr>
        <p:spPr>
          <a:xfrm>
            <a:off x="5723178" y="2223240"/>
            <a:ext cx="745643" cy="745643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B5B3E47-319A-E91F-D757-9237A7752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0310145" y="2224959"/>
            <a:ext cx="926876" cy="745643"/>
            <a:chOff x="7901577" y="2268089"/>
            <a:chExt cx="926876" cy="745643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87E0A58-A1CD-2034-967B-43E3B1A30E75}"/>
                </a:ext>
              </a:extLst>
            </p:cNvPr>
            <p:cNvSpPr/>
            <p:nvPr/>
          </p:nvSpPr>
          <p:spPr>
            <a:xfrm flipH="1">
              <a:off x="8516862" y="2268089"/>
              <a:ext cx="311591" cy="745643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6C7A089-7FDA-8268-CFE1-9FEBF5502B1F}"/>
                </a:ext>
              </a:extLst>
            </p:cNvPr>
            <p:cNvSpPr/>
            <p:nvPr/>
          </p:nvSpPr>
          <p:spPr>
            <a:xfrm flipH="1">
              <a:off x="7901577" y="2332794"/>
              <a:ext cx="781787" cy="616234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3474083-6FBC-EFFB-9A5B-4628C14D8C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949886" y="2224959"/>
            <a:ext cx="926876" cy="745643"/>
            <a:chOff x="7901577" y="2268089"/>
            <a:chExt cx="926876" cy="74564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43A0A8C-90E1-571C-81FB-68AA4B598069}"/>
                </a:ext>
              </a:extLst>
            </p:cNvPr>
            <p:cNvSpPr/>
            <p:nvPr/>
          </p:nvSpPr>
          <p:spPr>
            <a:xfrm flipH="1">
              <a:off x="8516862" y="2268089"/>
              <a:ext cx="311591" cy="745643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D5E2B6C-B109-3B53-42BD-EA9E5E04A54D}"/>
                </a:ext>
              </a:extLst>
            </p:cNvPr>
            <p:cNvSpPr/>
            <p:nvPr/>
          </p:nvSpPr>
          <p:spPr>
            <a:xfrm flipH="1">
              <a:off x="7901577" y="2332794"/>
              <a:ext cx="781787" cy="616234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D7938939-07E4-9BF5-82A2-B0E5138155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925" y="1227525"/>
            <a:ext cx="10525096" cy="53244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516563-500E-1C72-28E9-F36D816D58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126" y="1"/>
            <a:ext cx="2999874" cy="94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695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2BDE4-CE03-37E1-7B6D-179404A47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A12162-188B-D04E-A6C2-C9A714B97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22990"/>
            <a:ext cx="9951916" cy="64519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Flowchart:  chatbot interaction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A35EAEBA-DD6E-B6FB-3941-C7DAECBA2D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* According to a Survey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CDB8BB-43B7-799E-F600-9397435EBD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2F1786E-58AE-292F-3345-43E49FEC54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370855" y="3695377"/>
            <a:ext cx="1999889" cy="846137"/>
          </a:xfrm>
        </p:spPr>
        <p:txBody>
          <a:bodyPr/>
          <a:lstStyle/>
          <a:p>
            <a:r>
              <a:rPr lang="en-US" dirty="0"/>
              <a:t>Average Annual Revenue per Doctor</a:t>
            </a:r>
          </a:p>
        </p:txBody>
      </p:sp>
      <p:pic>
        <p:nvPicPr>
          <p:cNvPr id="46" name="Picture Placeholder 45" descr="Team">
            <a:extLst>
              <a:ext uri="{FF2B5EF4-FFF2-40B4-BE49-F238E27FC236}">
                <a16:creationId xmlns:a16="http://schemas.microsoft.com/office/drawing/2014/main" id="{6CC30A3B-C534-228A-EDE0-9AA0A698E775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318326" y="2437246"/>
            <a:ext cx="384361" cy="384361"/>
          </a:xfrm>
        </p:spPr>
      </p:pic>
      <p:pic>
        <p:nvPicPr>
          <p:cNvPr id="49" name="Picture Placeholder 48" descr="Medicine">
            <a:extLst>
              <a:ext uri="{FF2B5EF4-FFF2-40B4-BE49-F238E27FC236}">
                <a16:creationId xmlns:a16="http://schemas.microsoft.com/office/drawing/2014/main" id="{9FE42B9C-FE3C-FC43-F9B1-2CAC7C1F657C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3605126" y="2437246"/>
            <a:ext cx="384361" cy="384361"/>
          </a:xfrm>
        </p:spPr>
      </p:pic>
      <p:pic>
        <p:nvPicPr>
          <p:cNvPr id="53" name="Picture Placeholder 52" descr="Wallet">
            <a:extLst>
              <a:ext uri="{FF2B5EF4-FFF2-40B4-BE49-F238E27FC236}">
                <a16:creationId xmlns:a16="http://schemas.microsoft.com/office/drawing/2014/main" id="{E576ED41-C9B9-2719-6B24-239495D068F6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903820" y="2437246"/>
            <a:ext cx="384361" cy="384361"/>
          </a:xfrm>
        </p:spPr>
      </p:pic>
      <p:pic>
        <p:nvPicPr>
          <p:cNvPr id="56" name="Picture Placeholder 55" descr="Stethoscope">
            <a:extLst>
              <a:ext uri="{FF2B5EF4-FFF2-40B4-BE49-F238E27FC236}">
                <a16:creationId xmlns:a16="http://schemas.microsoft.com/office/drawing/2014/main" id="{5CAFF665-6263-5FD9-7210-71FAA1A9A1D8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8178726" y="2437246"/>
            <a:ext cx="384361" cy="384361"/>
          </a:xfrm>
        </p:spPr>
      </p:pic>
      <p:pic>
        <p:nvPicPr>
          <p:cNvPr id="60" name="Picture Placeholder 59" descr="Upward trend">
            <a:extLst>
              <a:ext uri="{FF2B5EF4-FFF2-40B4-BE49-F238E27FC236}">
                <a16:creationId xmlns:a16="http://schemas.microsoft.com/office/drawing/2014/main" id="{15BEB2A0-EC1B-61C9-D497-79DDBE83D3B0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0465525" y="2437246"/>
            <a:ext cx="384361" cy="384361"/>
          </a:xfrm>
        </p:spPr>
      </p:pic>
      <p:sp>
        <p:nvSpPr>
          <p:cNvPr id="19" name="object 7" descr="Beige rectangle">
            <a:extLst>
              <a:ext uri="{FF2B5EF4-FFF2-40B4-BE49-F238E27FC236}">
                <a16:creationId xmlns:a16="http://schemas.microsoft.com/office/drawing/2014/main" id="{C834BEA9-7186-0099-825A-58058A2309AB}"/>
              </a:ext>
            </a:extLst>
          </p:cNvPr>
          <p:cNvSpPr/>
          <p:nvPr/>
        </p:nvSpPr>
        <p:spPr bwMode="white">
          <a:xfrm>
            <a:off x="684000" y="1168185"/>
            <a:ext cx="4104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79D782E-D920-D530-6732-5570B9305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7914029" y="2224959"/>
            <a:ext cx="896287" cy="745643"/>
            <a:chOff x="1824638" y="1733550"/>
            <a:chExt cx="1192959" cy="99245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2B3A955-D52A-1FDF-29F0-90757114F981}"/>
                </a:ext>
              </a:extLst>
            </p:cNvPr>
            <p:cNvSpPr/>
            <p:nvPr/>
          </p:nvSpPr>
          <p:spPr>
            <a:xfrm>
              <a:off x="1824638" y="1733550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E9A361D-EECD-CDB4-E925-8C7E572827FA}"/>
                </a:ext>
              </a:extLst>
            </p:cNvPr>
            <p:cNvSpPr/>
            <p:nvPr/>
          </p:nvSpPr>
          <p:spPr>
            <a:xfrm>
              <a:off x="1925901" y="1819672"/>
              <a:ext cx="1091696" cy="820207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D2A204E1-E177-98CC-3777-6BBEC8294CBD}"/>
              </a:ext>
            </a:extLst>
          </p:cNvPr>
          <p:cNvSpPr/>
          <p:nvPr/>
        </p:nvSpPr>
        <p:spPr>
          <a:xfrm>
            <a:off x="5723178" y="2223240"/>
            <a:ext cx="745643" cy="745643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012F217-737C-3066-14FC-60C3F7C49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0310145" y="2224959"/>
            <a:ext cx="926876" cy="745643"/>
            <a:chOff x="7901577" y="2268089"/>
            <a:chExt cx="926876" cy="745643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26F4218-4477-71A4-7A04-A8BED601F250}"/>
                </a:ext>
              </a:extLst>
            </p:cNvPr>
            <p:cNvSpPr/>
            <p:nvPr/>
          </p:nvSpPr>
          <p:spPr>
            <a:xfrm flipH="1">
              <a:off x="8516862" y="2268089"/>
              <a:ext cx="311591" cy="745643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C663C66-F41A-18CC-05B2-39AA622146B6}"/>
                </a:ext>
              </a:extLst>
            </p:cNvPr>
            <p:cNvSpPr/>
            <p:nvPr/>
          </p:nvSpPr>
          <p:spPr>
            <a:xfrm flipH="1">
              <a:off x="7901577" y="2332794"/>
              <a:ext cx="781787" cy="616234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ECED891-45CA-1120-A4F3-28DA0FE4B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949886" y="2224959"/>
            <a:ext cx="926876" cy="745643"/>
            <a:chOff x="7901577" y="2268089"/>
            <a:chExt cx="926876" cy="74564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55F4CBE-E4A6-3264-DDBF-7049C2F55BE9}"/>
                </a:ext>
              </a:extLst>
            </p:cNvPr>
            <p:cNvSpPr/>
            <p:nvPr/>
          </p:nvSpPr>
          <p:spPr>
            <a:xfrm flipH="1">
              <a:off x="8516862" y="2268089"/>
              <a:ext cx="311591" cy="745643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2A99D81-F0C6-F931-F70D-6A14133C235B}"/>
                </a:ext>
              </a:extLst>
            </p:cNvPr>
            <p:cNvSpPr/>
            <p:nvPr/>
          </p:nvSpPr>
          <p:spPr>
            <a:xfrm flipH="1">
              <a:off x="7901577" y="2332794"/>
              <a:ext cx="781787" cy="616234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5FE842C-8F4A-1B3A-D9B2-80A4C4BB5C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924" y="1227525"/>
            <a:ext cx="10380007" cy="5324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BD4342-2CC5-4CD5-75C6-D75B4EABF9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537" y="0"/>
            <a:ext cx="3224463" cy="116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772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C6C25-0BCB-0EEC-A75B-F8E99B52D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715B-1B40-3315-42CA-87657F873F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FE050E-146E-303F-63F6-9D060B2043F1}"/>
              </a:ext>
            </a:extLst>
          </p:cNvPr>
          <p:cNvSpPr txBox="1"/>
          <p:nvPr/>
        </p:nvSpPr>
        <p:spPr>
          <a:xfrm>
            <a:off x="641684" y="401053"/>
            <a:ext cx="9561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Pharmacy shop / cart</a:t>
            </a:r>
            <a:endParaRPr lang="en-IN" sz="36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01426C-2C55-2D94-2009-D17167535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38" y="1213884"/>
            <a:ext cx="11149263" cy="50278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93D117-10E7-97EB-1A86-58B22D61F9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537" y="1"/>
            <a:ext cx="3224463" cy="94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356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1F9D6-9521-552C-29B2-CAB17C190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31432E-0DEF-223D-349B-46D16D9E4A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48FA6D-0849-D15B-6F2B-8D55100B165F}"/>
              </a:ext>
            </a:extLst>
          </p:cNvPr>
          <p:cNvSpPr txBox="1"/>
          <p:nvPr/>
        </p:nvSpPr>
        <p:spPr>
          <a:xfrm>
            <a:off x="385010" y="192504"/>
            <a:ext cx="70264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 Conversation</a:t>
            </a:r>
            <a:endParaRPr lang="en-IN" sz="32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6CAB1-60F4-0F9D-DDBE-B992CD2B4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64" y="1219201"/>
            <a:ext cx="11534274" cy="54577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01B812-56E9-20E6-2C28-38A585D6E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537" y="0"/>
            <a:ext cx="3224463" cy="102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777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65BCE-F658-09DF-24C1-01E608257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0A3215-A5A9-3ACF-BB16-FED2B8D7D7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C426C3-37E2-96A5-E9A7-8F228908BF30}"/>
              </a:ext>
            </a:extLst>
          </p:cNvPr>
          <p:cNvSpPr txBox="1"/>
          <p:nvPr/>
        </p:nvSpPr>
        <p:spPr>
          <a:xfrm>
            <a:off x="385010" y="192504"/>
            <a:ext cx="80050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Doctor Report Live Preview</a:t>
            </a:r>
            <a:endParaRPr lang="en-IN" sz="32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CE57B1-B65A-CCCD-5464-1AE6012AB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17" y="916255"/>
            <a:ext cx="11438021" cy="55959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417A47-BA48-4FEF-CC5A-8E01E3F3D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537" y="0"/>
            <a:ext cx="3224463" cy="91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774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  <a:alpha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74D93B-9F62-0FFA-1AA9-B575FE99C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F7B64D-1BEC-DA18-292B-81B8BE1C8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5190"/>
            <a:ext cx="12063663" cy="1008000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4- OCR, Email </a:t>
            </a:r>
            <a:b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&amp; voice assistant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5E7F11A-0B63-931E-61E7-03DF6ADF6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1223573"/>
            <a:ext cx="12192000" cy="120248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B21C3C8D-031F-CFF8-3EDA-B5A79C5FBA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95B39D-A437-3A7C-820B-C279404F961F}"/>
              </a:ext>
            </a:extLst>
          </p:cNvPr>
          <p:cNvSpPr txBox="1"/>
          <p:nvPr/>
        </p:nvSpPr>
        <p:spPr>
          <a:xfrm>
            <a:off x="8422105" y="86948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01461A-3620-DC9A-7630-D4566CBFE36E}"/>
              </a:ext>
            </a:extLst>
          </p:cNvPr>
          <p:cNvSpPr txBox="1"/>
          <p:nvPr/>
        </p:nvSpPr>
        <p:spPr>
          <a:xfrm>
            <a:off x="-1" y="1343821"/>
            <a:ext cx="11415343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Overview:</a:t>
            </a:r>
          </a:p>
          <a:p>
            <a:endParaRPr lang="en-US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intelligence: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patients can upload a photo of a medicine or a health report directly in the chatbot; the system extracts the text and returns a structured, AI-generated explanation.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connectivity — email notifications: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enhances Milestone 1's doctor-creation flow — when the Admin creates a doctor account, the doctor now automatically receives a branded welcome email with their login credentials.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assistant: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adds speech-to-text (mic input) and text-to-speech (spoken replies) to the chatbot, enabling a real conversational experience.</a:t>
            </a:r>
          </a:p>
          <a:p>
            <a:pPr lvl="0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A30BBB-8817-19D6-3E4F-1FCD8A5B6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537" y="1"/>
            <a:ext cx="3224463" cy="10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7909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53DF3-FF02-90DC-8939-A5F84AA73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4FD22C-591C-2244-3CB2-4212FC088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22990"/>
            <a:ext cx="9951916" cy="64519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Flowchart:  OCR Upload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4284EBAA-1975-B426-0CBD-CB9546A566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* According to a Survey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885CD-A5C8-4DB0-9358-4AE064331D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F576737-B051-31D5-23B2-5C5F95B7326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370855" y="3695377"/>
            <a:ext cx="1999889" cy="846137"/>
          </a:xfrm>
        </p:spPr>
        <p:txBody>
          <a:bodyPr/>
          <a:lstStyle/>
          <a:p>
            <a:r>
              <a:rPr lang="en-US" dirty="0"/>
              <a:t>Average Annual Revenue per Doctor</a:t>
            </a:r>
          </a:p>
        </p:txBody>
      </p:sp>
      <p:pic>
        <p:nvPicPr>
          <p:cNvPr id="46" name="Picture Placeholder 45" descr="Team">
            <a:extLst>
              <a:ext uri="{FF2B5EF4-FFF2-40B4-BE49-F238E27FC236}">
                <a16:creationId xmlns:a16="http://schemas.microsoft.com/office/drawing/2014/main" id="{7D5444B5-BB96-426F-E7E8-694E894A070E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318326" y="2437246"/>
            <a:ext cx="384361" cy="384361"/>
          </a:xfrm>
        </p:spPr>
      </p:pic>
      <p:pic>
        <p:nvPicPr>
          <p:cNvPr id="49" name="Picture Placeholder 48" descr="Medicine">
            <a:extLst>
              <a:ext uri="{FF2B5EF4-FFF2-40B4-BE49-F238E27FC236}">
                <a16:creationId xmlns:a16="http://schemas.microsoft.com/office/drawing/2014/main" id="{83412E8C-DCEF-0B7F-5673-63AEF8BFD024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3605126" y="2437246"/>
            <a:ext cx="384361" cy="384361"/>
          </a:xfrm>
        </p:spPr>
      </p:pic>
      <p:pic>
        <p:nvPicPr>
          <p:cNvPr id="53" name="Picture Placeholder 52" descr="Wallet">
            <a:extLst>
              <a:ext uri="{FF2B5EF4-FFF2-40B4-BE49-F238E27FC236}">
                <a16:creationId xmlns:a16="http://schemas.microsoft.com/office/drawing/2014/main" id="{76BE8354-FDEC-2242-3ED3-C5DBAF772762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903820" y="2437246"/>
            <a:ext cx="384361" cy="384361"/>
          </a:xfrm>
        </p:spPr>
      </p:pic>
      <p:pic>
        <p:nvPicPr>
          <p:cNvPr id="56" name="Picture Placeholder 55" descr="Stethoscope">
            <a:extLst>
              <a:ext uri="{FF2B5EF4-FFF2-40B4-BE49-F238E27FC236}">
                <a16:creationId xmlns:a16="http://schemas.microsoft.com/office/drawing/2014/main" id="{7269B6F3-DD7F-268A-1CCB-643A794DA2F6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8178726" y="2437246"/>
            <a:ext cx="384361" cy="384361"/>
          </a:xfrm>
        </p:spPr>
      </p:pic>
      <p:pic>
        <p:nvPicPr>
          <p:cNvPr id="60" name="Picture Placeholder 59" descr="Upward trend">
            <a:extLst>
              <a:ext uri="{FF2B5EF4-FFF2-40B4-BE49-F238E27FC236}">
                <a16:creationId xmlns:a16="http://schemas.microsoft.com/office/drawing/2014/main" id="{0CFDB2C3-F191-40CB-EADC-4BCCFFFE52BB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0465525" y="2437246"/>
            <a:ext cx="384361" cy="384361"/>
          </a:xfrm>
        </p:spPr>
      </p:pic>
      <p:sp>
        <p:nvSpPr>
          <p:cNvPr id="19" name="object 7" descr="Beige rectangle">
            <a:extLst>
              <a:ext uri="{FF2B5EF4-FFF2-40B4-BE49-F238E27FC236}">
                <a16:creationId xmlns:a16="http://schemas.microsoft.com/office/drawing/2014/main" id="{DFE2A9AF-203A-E73F-F415-C46D3C0DBFFF}"/>
              </a:ext>
            </a:extLst>
          </p:cNvPr>
          <p:cNvSpPr/>
          <p:nvPr/>
        </p:nvSpPr>
        <p:spPr bwMode="white">
          <a:xfrm>
            <a:off x="636381" y="1168185"/>
            <a:ext cx="4104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C09D021-3ED2-B3D8-B5D6-6D40D8D7F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7914029" y="2224959"/>
            <a:ext cx="896287" cy="745643"/>
            <a:chOff x="1824638" y="1733550"/>
            <a:chExt cx="1192959" cy="99245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4E689AC-F817-0397-F2F3-E2327CE23197}"/>
                </a:ext>
              </a:extLst>
            </p:cNvPr>
            <p:cNvSpPr/>
            <p:nvPr/>
          </p:nvSpPr>
          <p:spPr>
            <a:xfrm>
              <a:off x="1824638" y="1733550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46C1E02-DD82-CEC2-EA9D-26ECBD8BA9C2}"/>
                </a:ext>
              </a:extLst>
            </p:cNvPr>
            <p:cNvSpPr/>
            <p:nvPr/>
          </p:nvSpPr>
          <p:spPr>
            <a:xfrm>
              <a:off x="1925901" y="1819672"/>
              <a:ext cx="1091696" cy="820207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DF64A0F-F848-37AC-6940-B7B9971ED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5723178" y="2223240"/>
            <a:ext cx="745643" cy="745643"/>
            <a:chOff x="5482999" y="1607028"/>
            <a:chExt cx="1200866" cy="120086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900B895-1A49-A29C-046B-4B37206685E9}"/>
                </a:ext>
              </a:extLst>
            </p:cNvPr>
            <p:cNvSpPr/>
            <p:nvPr/>
          </p:nvSpPr>
          <p:spPr>
            <a:xfrm>
              <a:off x="5587207" y="1711236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DF67F85-ED7C-6A1A-8E1D-BAC109133ABE}"/>
                </a:ext>
              </a:extLst>
            </p:cNvPr>
            <p:cNvSpPr/>
            <p:nvPr/>
          </p:nvSpPr>
          <p:spPr>
            <a:xfrm>
              <a:off x="5482999" y="1607028"/>
              <a:ext cx="1200866" cy="1200866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80AB3E8-21CA-49A0-FDEC-4676670FE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0310145" y="2224959"/>
            <a:ext cx="926876" cy="745643"/>
            <a:chOff x="7901577" y="2268089"/>
            <a:chExt cx="926876" cy="745643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D70D713-C31C-B715-B390-00787613353F}"/>
                </a:ext>
              </a:extLst>
            </p:cNvPr>
            <p:cNvSpPr/>
            <p:nvPr/>
          </p:nvSpPr>
          <p:spPr>
            <a:xfrm flipH="1">
              <a:off x="8516862" y="2268089"/>
              <a:ext cx="311591" cy="745643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9E426CD-A3F1-7575-C71B-E44C2CDBA55C}"/>
                </a:ext>
              </a:extLst>
            </p:cNvPr>
            <p:cNvSpPr/>
            <p:nvPr/>
          </p:nvSpPr>
          <p:spPr>
            <a:xfrm flipH="1">
              <a:off x="7901577" y="2332794"/>
              <a:ext cx="781787" cy="616234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0689D67-ADE9-5985-93A8-2364FC3CF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949886" y="2224959"/>
            <a:ext cx="926876" cy="745643"/>
            <a:chOff x="7901577" y="2268089"/>
            <a:chExt cx="926876" cy="74564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30398B5-74C9-0AC9-D9B1-0B1D60D05CAA}"/>
                </a:ext>
              </a:extLst>
            </p:cNvPr>
            <p:cNvSpPr/>
            <p:nvPr/>
          </p:nvSpPr>
          <p:spPr>
            <a:xfrm flipH="1">
              <a:off x="8516862" y="2268089"/>
              <a:ext cx="311591" cy="745643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158CB7F-B8AD-2074-D180-83102C7BC15E}"/>
                </a:ext>
              </a:extLst>
            </p:cNvPr>
            <p:cNvSpPr/>
            <p:nvPr/>
          </p:nvSpPr>
          <p:spPr>
            <a:xfrm flipH="1">
              <a:off x="7901577" y="2332794"/>
              <a:ext cx="781787" cy="616234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40C92CF-1CFA-3684-202F-7C28EE299A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153" y="1227525"/>
            <a:ext cx="9753600" cy="5324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E65583-2759-1A45-8303-C389578FC4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537" y="1"/>
            <a:ext cx="3224463" cy="114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5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93CCA-CFC0-CE4E-590A-AE3BA2406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AD3801-1C04-17D8-4335-76B854902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426760"/>
            <a:ext cx="9951916" cy="64519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Flowchart:  email notification &amp; voice assistant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918E720-E455-D1CD-4739-CC521EF830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* According to a Survey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320B2-8723-3421-4D2B-0B6D5974CB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5C66EE4-830D-7ED0-190B-A382B0E4105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370855" y="3695377"/>
            <a:ext cx="1999889" cy="846137"/>
          </a:xfrm>
        </p:spPr>
        <p:txBody>
          <a:bodyPr/>
          <a:lstStyle/>
          <a:p>
            <a:r>
              <a:rPr lang="en-US" dirty="0"/>
              <a:t>Average Annual Revenue per Doctor</a:t>
            </a:r>
          </a:p>
        </p:txBody>
      </p:sp>
      <p:pic>
        <p:nvPicPr>
          <p:cNvPr id="46" name="Picture Placeholder 45" descr="Team">
            <a:extLst>
              <a:ext uri="{FF2B5EF4-FFF2-40B4-BE49-F238E27FC236}">
                <a16:creationId xmlns:a16="http://schemas.microsoft.com/office/drawing/2014/main" id="{03772005-960B-5F39-9901-F631562DD8E3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318326" y="2437246"/>
            <a:ext cx="384361" cy="384361"/>
          </a:xfrm>
        </p:spPr>
      </p:pic>
      <p:pic>
        <p:nvPicPr>
          <p:cNvPr id="49" name="Picture Placeholder 48" descr="Medicine">
            <a:extLst>
              <a:ext uri="{FF2B5EF4-FFF2-40B4-BE49-F238E27FC236}">
                <a16:creationId xmlns:a16="http://schemas.microsoft.com/office/drawing/2014/main" id="{F1F56E2D-460C-0B8E-BF1C-9AEFBF3DD6A3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3605126" y="2437246"/>
            <a:ext cx="384361" cy="384361"/>
          </a:xfrm>
        </p:spPr>
      </p:pic>
      <p:pic>
        <p:nvPicPr>
          <p:cNvPr id="53" name="Picture Placeholder 52" descr="Wallet">
            <a:extLst>
              <a:ext uri="{FF2B5EF4-FFF2-40B4-BE49-F238E27FC236}">
                <a16:creationId xmlns:a16="http://schemas.microsoft.com/office/drawing/2014/main" id="{22D472A1-25D5-84CB-D39A-69B0BB7211D8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903820" y="2437246"/>
            <a:ext cx="384361" cy="384361"/>
          </a:xfrm>
        </p:spPr>
      </p:pic>
      <p:pic>
        <p:nvPicPr>
          <p:cNvPr id="56" name="Picture Placeholder 55" descr="Stethoscope">
            <a:extLst>
              <a:ext uri="{FF2B5EF4-FFF2-40B4-BE49-F238E27FC236}">
                <a16:creationId xmlns:a16="http://schemas.microsoft.com/office/drawing/2014/main" id="{4D5F7B94-F071-ECD4-C9E3-1E2E0C34F9DB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8178726" y="2437246"/>
            <a:ext cx="384361" cy="384361"/>
          </a:xfrm>
        </p:spPr>
      </p:pic>
      <p:pic>
        <p:nvPicPr>
          <p:cNvPr id="60" name="Picture Placeholder 59" descr="Upward trend">
            <a:extLst>
              <a:ext uri="{FF2B5EF4-FFF2-40B4-BE49-F238E27FC236}">
                <a16:creationId xmlns:a16="http://schemas.microsoft.com/office/drawing/2014/main" id="{5559F653-9A82-8254-1115-6223B938EEA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0465525" y="2437246"/>
            <a:ext cx="384361" cy="384361"/>
          </a:xfrm>
        </p:spPr>
      </p:pic>
      <p:sp>
        <p:nvSpPr>
          <p:cNvPr id="19" name="object 7" descr="Beige rectangle">
            <a:extLst>
              <a:ext uri="{FF2B5EF4-FFF2-40B4-BE49-F238E27FC236}">
                <a16:creationId xmlns:a16="http://schemas.microsoft.com/office/drawing/2014/main" id="{0B2B4A82-BECD-4350-432E-1FD3051E4915}"/>
              </a:ext>
            </a:extLst>
          </p:cNvPr>
          <p:cNvSpPr/>
          <p:nvPr/>
        </p:nvSpPr>
        <p:spPr bwMode="white">
          <a:xfrm>
            <a:off x="288000" y="1296522"/>
            <a:ext cx="4104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DC2CB54-E851-A16C-B78F-19A063F28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7914029" y="2224959"/>
            <a:ext cx="896287" cy="745643"/>
            <a:chOff x="1824638" y="1733550"/>
            <a:chExt cx="1192959" cy="99245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7BD0D7A-CF08-7B26-E0A2-2C008B915977}"/>
                </a:ext>
              </a:extLst>
            </p:cNvPr>
            <p:cNvSpPr/>
            <p:nvPr/>
          </p:nvSpPr>
          <p:spPr>
            <a:xfrm>
              <a:off x="1824638" y="1733550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9145C77-6A18-B463-2F93-1BF2460A71A1}"/>
                </a:ext>
              </a:extLst>
            </p:cNvPr>
            <p:cNvSpPr/>
            <p:nvPr/>
          </p:nvSpPr>
          <p:spPr>
            <a:xfrm>
              <a:off x="1925901" y="1819672"/>
              <a:ext cx="1091696" cy="820207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CA25A44-8ECD-CB1D-C684-CC2E57B39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5723178" y="2223240"/>
            <a:ext cx="745643" cy="745643"/>
            <a:chOff x="5482999" y="1607028"/>
            <a:chExt cx="1200866" cy="120086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DCEA4AE-57B1-ABEC-9082-B8BAAC136646}"/>
                </a:ext>
              </a:extLst>
            </p:cNvPr>
            <p:cNvSpPr/>
            <p:nvPr/>
          </p:nvSpPr>
          <p:spPr>
            <a:xfrm>
              <a:off x="5587207" y="1711236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9695DCD-A91B-15AD-4511-C29CCA1204A6}"/>
                </a:ext>
              </a:extLst>
            </p:cNvPr>
            <p:cNvSpPr/>
            <p:nvPr/>
          </p:nvSpPr>
          <p:spPr>
            <a:xfrm>
              <a:off x="5482999" y="1607028"/>
              <a:ext cx="1200866" cy="1200866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AF8E0F1-8355-F48E-4287-B94FDC7B4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0310145" y="2224959"/>
            <a:ext cx="926876" cy="745643"/>
            <a:chOff x="7901577" y="2268089"/>
            <a:chExt cx="926876" cy="745643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B4D5163-24A6-096B-10F8-CFE9574F7563}"/>
                </a:ext>
              </a:extLst>
            </p:cNvPr>
            <p:cNvSpPr/>
            <p:nvPr/>
          </p:nvSpPr>
          <p:spPr>
            <a:xfrm flipH="1">
              <a:off x="8516862" y="2268089"/>
              <a:ext cx="311591" cy="745643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130E43E-FCFF-4BEF-788E-C575F04617EE}"/>
                </a:ext>
              </a:extLst>
            </p:cNvPr>
            <p:cNvSpPr/>
            <p:nvPr/>
          </p:nvSpPr>
          <p:spPr>
            <a:xfrm flipH="1">
              <a:off x="7901577" y="2332794"/>
              <a:ext cx="781787" cy="616234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C0AA457-E1E3-4670-8C73-279AE7A8D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949886" y="2224959"/>
            <a:ext cx="926876" cy="745643"/>
            <a:chOff x="7901577" y="2268089"/>
            <a:chExt cx="926876" cy="74564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93A46B1-549E-0549-0B98-4C446FD110DA}"/>
                </a:ext>
              </a:extLst>
            </p:cNvPr>
            <p:cNvSpPr/>
            <p:nvPr/>
          </p:nvSpPr>
          <p:spPr>
            <a:xfrm flipH="1">
              <a:off x="8516862" y="2268089"/>
              <a:ext cx="311591" cy="745643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8155653-AA9B-8994-CBA2-99BF9DEE67F9}"/>
                </a:ext>
              </a:extLst>
            </p:cNvPr>
            <p:cNvSpPr/>
            <p:nvPr/>
          </p:nvSpPr>
          <p:spPr>
            <a:xfrm flipH="1">
              <a:off x="7901577" y="2332794"/>
              <a:ext cx="781787" cy="616234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A0EAC21-7C31-ABE5-08F1-AA02AD0B72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000" y="1412331"/>
            <a:ext cx="10803932" cy="50999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B2CD9E-BD11-37F0-9521-EB46D94D69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832" y="0"/>
            <a:ext cx="3112168" cy="107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7918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582F2-87C9-BF42-6852-9E3C50BAA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30CF3C-85DA-958B-644A-C208A54877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4A017D-AEBD-019E-CFC3-EA04DDEF4569}"/>
              </a:ext>
            </a:extLst>
          </p:cNvPr>
          <p:cNvSpPr txBox="1"/>
          <p:nvPr/>
        </p:nvSpPr>
        <p:spPr>
          <a:xfrm>
            <a:off x="641684" y="401053"/>
            <a:ext cx="9561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OCR Result / Medicine Table</a:t>
            </a:r>
            <a:endParaRPr lang="en-IN" sz="36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047059-7C85-B48D-C9F8-A02A012AB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84" y="1292219"/>
            <a:ext cx="5053263" cy="46112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BB0467-5A91-F46D-BA8F-EA9A4EAD2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368" y="1292220"/>
            <a:ext cx="5670639" cy="46112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57F920-5BCD-5B60-4E49-8898A4489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537" y="1"/>
            <a:ext cx="3224463" cy="104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1314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EF32F-941A-CB48-443C-9C4DE47C2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5C788-59DC-04E1-D823-3A5A938F40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24B163-7ECF-8902-13F9-3032C5FE8A43}"/>
              </a:ext>
            </a:extLst>
          </p:cNvPr>
          <p:cNvSpPr txBox="1"/>
          <p:nvPr/>
        </p:nvSpPr>
        <p:spPr>
          <a:xfrm>
            <a:off x="641684" y="401053"/>
            <a:ext cx="95610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Notes and Extracted</a:t>
            </a:r>
          </a:p>
          <a:p>
            <a:r>
              <a:rPr lang="en-US" sz="36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OCR Text</a:t>
            </a:r>
            <a:endParaRPr lang="en-IN" sz="36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8BE62E-16C2-F74F-BD2E-269990FD1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84" y="1601382"/>
            <a:ext cx="10395284" cy="506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1CA255-3335-1965-ED9D-DFB43EC10E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537" y="0"/>
            <a:ext cx="3224463" cy="120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4583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7B1A-5335-B0FD-6FAD-98E9F3270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F4141A-E797-546A-19D5-E73BB80FF9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036906-B451-22F4-8779-52BC13C421EE}"/>
              </a:ext>
            </a:extLst>
          </p:cNvPr>
          <p:cNvSpPr txBox="1"/>
          <p:nvPr/>
        </p:nvSpPr>
        <p:spPr>
          <a:xfrm>
            <a:off x="641684" y="401053"/>
            <a:ext cx="9561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Doctor’s Welcome Email</a:t>
            </a:r>
            <a:endParaRPr lang="en-IN" sz="36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FD826F-1026-7316-B890-AE05DCE7E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146" y="1116336"/>
            <a:ext cx="8983579" cy="53406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9BA1F3-011D-2FFE-4D80-7F9A172F71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537" y="1"/>
            <a:ext cx="3224463" cy="104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8595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580A9-2A0E-45EE-9ED0-D00B0E180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425A4-AB93-65DD-A5A6-56BACD6B94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F042B6-A04C-B55A-ACEA-63469E44029A}"/>
              </a:ext>
            </a:extLst>
          </p:cNvPr>
          <p:cNvSpPr txBox="1"/>
          <p:nvPr/>
        </p:nvSpPr>
        <p:spPr>
          <a:xfrm>
            <a:off x="641684" y="401053"/>
            <a:ext cx="9561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Mode UI</a:t>
            </a:r>
            <a:endParaRPr lang="en-IN" sz="36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489046-AB63-4EC6-AA92-597736AC8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83" y="1047384"/>
            <a:ext cx="10539663" cy="54648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551BDA-F97C-1980-1033-C26B34B0A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537" y="1"/>
            <a:ext cx="3224463" cy="104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2634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  <a:alpha val="12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047F3A-3337-9211-71D5-EB56AFC7A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83E4C3-4693-507C-3004-4B33F9F36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5189"/>
            <a:ext cx="12063663" cy="1128383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27CB494-5C4B-FFB3-E130-C7F93FC67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1223573"/>
            <a:ext cx="12192000" cy="120248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42A03F76-AE0B-C5F7-CBE0-63383A3927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75B016-3FC3-F9C0-EABE-6BF6454A438B}"/>
              </a:ext>
            </a:extLst>
          </p:cNvPr>
          <p:cNvSpPr txBox="1"/>
          <p:nvPr/>
        </p:nvSpPr>
        <p:spPr>
          <a:xfrm>
            <a:off x="8422105" y="86948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1BAB37-F32F-15C2-A472-B9D1F57E6DF5}"/>
              </a:ext>
            </a:extLst>
          </p:cNvPr>
          <p:cNvSpPr txBox="1"/>
          <p:nvPr/>
        </p:nvSpPr>
        <p:spPr>
          <a:xfrm>
            <a:off x="-1" y="1343821"/>
            <a:ext cx="11415343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name formatting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some doctor records stored "Dr." as part of the name while UI templates also prepended it, causing "Dr. Dr. [Name]" bugs across multiple screens; fixed by centralizing name-display logic in one place.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Unsafe rendering of free-text fields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doctor-entered notes injected raw into HTML could break the layout; fixed by escaping all user-entered text before rendering.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version conflicts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-core,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langchain-groq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versions drifting out of sync caused import errors that needed careful pinning.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environment setup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getting Tesseract's binary correctly recognized on Windows (PATH issues) required a fallback to a hardcoded install-path check.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 AI flexibility with data safety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ensuring the chatbot could never directly write to the database; solved with a strict "propose → human confirms" wizard pattern for every write action.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ambiguous photo uploads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distinguishing a medicine label (OCR-readable) from a bare pill (needs a vision model) required a two-path extraction pipeline with graceful fallback.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deliverability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configuring Gmail SMTP correctly (App Passwords vs. regular password) and avoiding spam-folder placement on first send.</a:t>
            </a:r>
          </a:p>
          <a:p>
            <a:endParaRPr lang="en-US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784987-E13C-FBE9-8F0C-1F3F8216A4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537" y="0"/>
            <a:ext cx="3224463" cy="100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8367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  <a:alpha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733184-2B6D-7D67-6DD6-349292C85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C321FA-BE07-CFAE-F3C2-45F29C118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5189"/>
            <a:ext cx="12063663" cy="1128383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3E974CE-B0FF-4916-5D03-6D3C934A2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1" y="992726"/>
            <a:ext cx="12192000" cy="120248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0E96F3DA-628E-F969-8FC6-F7F71E0C28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2CA13E-4CFA-F3D3-94DA-3C6C04C242C9}"/>
              </a:ext>
            </a:extLst>
          </p:cNvPr>
          <p:cNvSpPr txBox="1"/>
          <p:nvPr/>
        </p:nvSpPr>
        <p:spPr>
          <a:xfrm>
            <a:off x="8422105" y="86948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E1C4E0-6A84-BD46-6E6A-B8C2849B8905}"/>
              </a:ext>
            </a:extLst>
          </p:cNvPr>
          <p:cNvSpPr txBox="1"/>
          <p:nvPr/>
        </p:nvSpPr>
        <p:spPr>
          <a:xfrm>
            <a:off x="-1" y="1343821"/>
            <a:ext cx="1141534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cross-portal search across patients, doctors, and medicines.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Medication reminders using existing prescription duration data.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One-click magic-link sign-in directly from email notifications.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Click-to-book appointments directly on the doctor's schedule grid.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true light/dark theme toggle across the entire app, not just the chatbot.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Native mobile app version for patients and doctors.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a real payment gateway for the pharmacy module.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Telemedicine / video consultation support.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Multi-hospital / multi-tenant deployment support.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Expanded language coverage beyond the current 11 supported languages.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0A76A7-A301-84C9-67E9-CA129020D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537" y="1"/>
            <a:ext cx="3224463" cy="88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2312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716B86-560F-5B8C-5011-AEB3DCFB1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AE671C-B001-BD3C-EBC2-92D784E87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537" y="0"/>
            <a:ext cx="3224463" cy="113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78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S Healthcare Pitch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MS Healthcare Pitch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2"/>
            </a:gs>
            <a:gs pos="100000">
              <a:schemeClr val="accent2"/>
            </a:gs>
          </a:gsLst>
          <a:lin ang="1440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MB Healthcare Pitch Deck SB_v3" id="{F20654C3-30CB-4A23-AE37-CA3918CCFD51}" vid="{71C4247B-9648-406B-9B0E-E712402798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4BDB64-2AF8-42D4-96C8-B6B6F098993C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C66BDC7-24D2-4343-8D41-18F9C23F86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33BAED8-F9E7-4D41-86E9-333473F909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Healthcare office pitch deck</Template>
  <TotalTime>284</TotalTime>
  <Words>1198</Words>
  <Application>Microsoft Office PowerPoint</Application>
  <PresentationFormat>Widescreen</PresentationFormat>
  <Paragraphs>145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Arial </vt:lpstr>
      <vt:lpstr>Calibri</vt:lpstr>
      <vt:lpstr>Courier New</vt:lpstr>
      <vt:lpstr>Gill Sans MT</vt:lpstr>
      <vt:lpstr>Times New Roman</vt:lpstr>
      <vt:lpstr>Office Theme</vt:lpstr>
      <vt:lpstr>PATIENT CARE MANAGEMENT SYSTEM FOR HEALTHCARE SERVICES</vt:lpstr>
      <vt:lpstr>PowerPoint Presentation</vt:lpstr>
      <vt:lpstr>PowerPoint Presentation</vt:lpstr>
      <vt:lpstr>Milestone 1- Authentication &amp; role-based  access</vt:lpstr>
      <vt:lpstr>Flowchart:  Login &amp; Admin-created  account </vt:lpstr>
      <vt:lpstr>PowerPoint Presentation</vt:lpstr>
      <vt:lpstr>PowerPoint Presentation</vt:lpstr>
      <vt:lpstr>Milestone 2- Role-based UI</vt:lpstr>
      <vt:lpstr>Flowchart:  Role-Based Routing</vt:lpstr>
      <vt:lpstr>PowerPoint Presentation</vt:lpstr>
      <vt:lpstr>PowerPoint Presentation</vt:lpstr>
      <vt:lpstr>PowerPoint Presentation</vt:lpstr>
      <vt:lpstr>Milestone 3- Pharmacy, Chatbot  &amp; Doctor Reports</vt:lpstr>
      <vt:lpstr>Flowchart:  Doctor report creation</vt:lpstr>
      <vt:lpstr>Flowchart:  chatbot interaction</vt:lpstr>
      <vt:lpstr>PowerPoint Presentation</vt:lpstr>
      <vt:lpstr>PowerPoint Presentation</vt:lpstr>
      <vt:lpstr>PowerPoint Presentation</vt:lpstr>
      <vt:lpstr>Milestone 4- OCR, Email  Notification &amp; voice assistant</vt:lpstr>
      <vt:lpstr>Flowchart:  OCR Upload</vt:lpstr>
      <vt:lpstr>Flowchart:  email notification &amp; voice assistant</vt:lpstr>
      <vt:lpstr>PowerPoint Presentation</vt:lpstr>
      <vt:lpstr>PowerPoint Presentation</vt:lpstr>
      <vt:lpstr>PowerPoint Presentation</vt:lpstr>
      <vt:lpstr>PowerPoint Presentation</vt:lpstr>
      <vt:lpstr>Challenges Faced</vt:lpstr>
      <vt:lpstr>Future Scope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 Tiwari</dc:creator>
  <cp:lastModifiedBy>Rishi Tiwari</cp:lastModifiedBy>
  <cp:revision>19</cp:revision>
  <dcterms:created xsi:type="dcterms:W3CDTF">2026-08-21T05:10:49Z</dcterms:created>
  <dcterms:modified xsi:type="dcterms:W3CDTF">2026-08-26T13:01:22Z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